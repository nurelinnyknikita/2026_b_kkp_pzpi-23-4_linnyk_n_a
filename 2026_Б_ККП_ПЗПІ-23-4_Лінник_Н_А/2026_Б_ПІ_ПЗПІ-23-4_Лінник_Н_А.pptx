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aleway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22" Type="http://schemas.openxmlformats.org/officeDocument/2006/relationships/font" Target="fonts/Raleway-italic.fntdata"/><Relationship Id="rId21" Type="http://schemas.openxmlformats.org/officeDocument/2006/relationships/font" Target="fonts/Raleway-bold.fntdata"/><Relationship Id="rId24" Type="http://schemas.openxmlformats.org/officeDocument/2006/relationships/font" Target="fonts/Lato-regular.fntdata"/><Relationship Id="rId23" Type="http://schemas.openxmlformats.org/officeDocument/2006/relationships/font" Target="fonts/Raleway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ea18c5866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ea18c5866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7">
  <p:cSld name="Title and body (g3ea0ff79869_67_0)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6">
  <p:cSld name="Title and body (g3ea0ff79869_60_0)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 and body (g3ea0ff79869_7_0)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5">
  <p:cSld name="Title and body (g3ea0ff79869_46_0)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 and body (g3ea0ff79869_21_0)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3">
  <p:cSld name="Title and body (g3ea0ff79869_32_0)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9" name="Google Shape;39;p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4">
  <p:cSld name="Title and body (g3ea0ff79869_39_0)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3" name="Google Shape;43;p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9">
  <p:cSld name="Title and body (g3ea0ff79869_82_0)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0">
  <p:cSld name="Title and body (g3ea0ff79869_89_0)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 only (g3ea0ff79869_96_0)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5" name="Google Shape;55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1">
  <p:cSld name="Title and body (g3ea18d4d3d4_6_0)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8" name="Google Shape;58;p1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8">
  <p:cSld name="Title and body (g3ea0ff79869_74_0)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" name="Google Shape;66;p1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7" name="Google Shape;67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" name="Google Shape;69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oogle Shape;73;p1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4" name="Google Shape;74;p1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6" name="Google Shape;76;p1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" name="Google Shape;80;p1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81" name="Google Shape;81;p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" name="Google Shape;83;p1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9" name="Google Shape;89;p1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90" name="Google Shape;90;p1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2" name="Google Shape;92;p1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93" name="Google Shape;93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" name="Google Shape;96;p1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97" name="Google Shape;97;p1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9" name="Google Shape;99;p19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1" name="Google Shape;101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2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04" name="Google Shape;104;p2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" name="Google Shape;106;p20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7" name="Google Shape;107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0" name="Google Shape;110;p2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11" name="Google Shape;111;p2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2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" name="Google Shape;113;p2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14" name="Google Shape;114;p21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15" name="Google Shape;115;p21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6" name="Google Shape;116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19" name="Google Shape;119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23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22" name="Google Shape;122;p2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2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4" name="Google Shape;124;p23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4246"/>
              <a:buNone/>
            </a:pPr>
            <a:r>
              <a:rPr lang="uk" sz="3756"/>
              <a:t>Тема: Програмна система для вивчення іноземних мов з використанням вебтехнологій</a:t>
            </a:r>
            <a:endParaRPr sz="3756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34" name="Google Shape;134;p25"/>
          <p:cNvSpPr txBox="1"/>
          <p:nvPr>
            <p:ph idx="1" type="subTitle"/>
          </p:nvPr>
        </p:nvSpPr>
        <p:spPr>
          <a:xfrm>
            <a:off x="729625" y="3172900"/>
            <a:ext cx="2950800" cy="10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uk" sz="1700"/>
              <a:t>Виконав : </a:t>
            </a:r>
            <a:br>
              <a:rPr lang="uk" sz="1700"/>
            </a:br>
            <a:r>
              <a:rPr lang="uk" sz="1700"/>
              <a:t>ст. гр. ПЗПІ-23-4 </a:t>
            </a:r>
            <a:br>
              <a:rPr lang="uk" sz="1700"/>
            </a:br>
            <a:r>
              <a:rPr lang="uk" sz="1700"/>
              <a:t>Лінник Н. А. </a:t>
            </a:r>
            <a:endParaRPr sz="1700"/>
          </a:p>
        </p:txBody>
      </p:sp>
      <p:sp>
        <p:nvSpPr>
          <p:cNvPr id="135" name="Google Shape;135;p25"/>
          <p:cNvSpPr txBox="1"/>
          <p:nvPr/>
        </p:nvSpPr>
        <p:spPr>
          <a:xfrm>
            <a:off x="5417550" y="3172900"/>
            <a:ext cx="3000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uk" sz="17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Науковий керівник: </a:t>
            </a:r>
            <a:br>
              <a:rPr b="0" i="0" lang="uk" sz="17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0" i="0" lang="uk" sz="17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ст. викл. кафедри ПІ</a:t>
            </a:r>
            <a:endParaRPr b="0" i="0" sz="17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uk" sz="17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Ляпота В. М.</a:t>
            </a:r>
            <a:endParaRPr b="0" i="0" sz="17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6" name="Google Shape;136;p25"/>
          <p:cNvSpPr txBox="1"/>
          <p:nvPr/>
        </p:nvSpPr>
        <p:spPr>
          <a:xfrm>
            <a:off x="3186125" y="4101275"/>
            <a:ext cx="1824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2" name="Google Shape;142;p26"/>
          <p:cNvGrpSpPr/>
          <p:nvPr/>
        </p:nvGrpSpPr>
        <p:grpSpPr>
          <a:xfrm>
            <a:off x="-1796976" y="-1350669"/>
            <a:ext cx="3373133" cy="2587772"/>
            <a:chOff x="830390" y="1191178"/>
            <a:chExt cx="4814635" cy="1423026"/>
          </a:xfrm>
        </p:grpSpPr>
        <p:sp>
          <p:nvSpPr>
            <p:cNvPr id="143" name="Google Shape;143;p2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2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26"/>
            <p:cNvSpPr/>
            <p:nvPr/>
          </p:nvSpPr>
          <p:spPr>
            <a:xfrm rot="-5400000">
              <a:off x="1366793" y="1027688"/>
              <a:ext cx="45900" cy="372900"/>
            </a:xfrm>
            <a:prstGeom prst="rect">
              <a:avLst/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26"/>
            <p:cNvSpPr/>
            <p:nvPr/>
          </p:nvSpPr>
          <p:spPr>
            <a:xfrm rot="-5400000">
              <a:off x="995390" y="1026178"/>
              <a:ext cx="45900" cy="375900"/>
            </a:xfrm>
            <a:prstGeom prst="rect">
              <a:avLst/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7" name="Google Shape;147;p26"/>
          <p:cNvSpPr txBox="1"/>
          <p:nvPr>
            <p:ph type="title"/>
          </p:nvPr>
        </p:nvSpPr>
        <p:spPr>
          <a:xfrm>
            <a:off x="727650" y="616600"/>
            <a:ext cx="7688700" cy="535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1" lang="uk" sz="28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Аналіз предметної галузі</a:t>
            </a:r>
            <a:endParaRPr b="1" sz="2800">
              <a:solidFill>
                <a:srgbClr val="1A1A1A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148" name="Google Shape;148;p26"/>
          <p:cNvGrpSpPr/>
          <p:nvPr/>
        </p:nvGrpSpPr>
        <p:grpSpPr>
          <a:xfrm>
            <a:off x="723900" y="1428750"/>
            <a:ext cx="4000500" cy="3564000"/>
            <a:chOff x="723900" y="1428750"/>
            <a:chExt cx="4000500" cy="3564000"/>
          </a:xfrm>
        </p:grpSpPr>
        <p:sp>
          <p:nvSpPr>
            <p:cNvPr id="149" name="Google Shape;149;p26"/>
            <p:cNvSpPr/>
            <p:nvPr/>
          </p:nvSpPr>
          <p:spPr>
            <a:xfrm>
              <a:off x="723900" y="1428750"/>
              <a:ext cx="4000500" cy="3564000"/>
            </a:xfrm>
            <a:prstGeom prst="roundRect">
              <a:avLst>
                <a:gd fmla="val 3870" name="adj"/>
              </a:avLst>
            </a:prstGeom>
            <a:solidFill>
              <a:srgbClr val="FFFFFF"/>
            </a:solidFill>
            <a:ln cap="flat" cmpd="sng" w="9525">
              <a:solidFill>
                <a:srgbClr val="E9ED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26"/>
            <p:cNvSpPr txBox="1"/>
            <p:nvPr/>
          </p:nvSpPr>
          <p:spPr>
            <a:xfrm>
              <a:off x="914400" y="1619250"/>
              <a:ext cx="3619500" cy="313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uk" sz="1400" u="none" cap="none" strike="noStrike">
                  <a:solidFill>
                    <a:srgbClr val="EB5600"/>
                  </a:solidFill>
                  <a:latin typeface="Lato"/>
                  <a:ea typeface="Lato"/>
                  <a:cs typeface="Lato"/>
                  <a:sym typeface="Lato"/>
                </a:rPr>
                <a:t>Електронне вивчення іноземних мов</a:t>
              </a:r>
              <a:endParaRPr b="1" i="0" sz="1400" u="none" cap="none" strike="noStrike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1150" lvl="0" marL="457200" marR="0" rtl="0" algn="l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595959"/>
                </a:buClr>
                <a:buSzPts val="1300"/>
                <a:buFont typeface="Lato"/>
                <a:buChar char="●"/>
              </a:pPr>
              <a:r>
                <a:rPr b="0" i="0" lang="uk" sz="1300" u="none" cap="none" strike="noStrike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Навчання організовується через мови, курси, уроки та вправи.</a:t>
              </a:r>
              <a:endParaRPr b="0" i="0" sz="13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1150" lvl="0" marL="45720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595959"/>
                </a:buClr>
                <a:buSzPts val="1300"/>
                <a:buFont typeface="Lato"/>
                <a:buChar char="●"/>
              </a:pPr>
              <a:r>
                <a:rPr b="0" i="0" lang="uk" sz="1300" u="none" cap="none" strike="noStrike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Курси можуть відповідати рівням CEFR: A1-C2.</a:t>
              </a:r>
              <a:endParaRPr b="0" i="0" sz="13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1150" lvl="0" marL="45720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595959"/>
                </a:buClr>
                <a:buSzPts val="1300"/>
                <a:buFont typeface="Lato"/>
                <a:buChar char="●"/>
              </a:pPr>
              <a:r>
                <a:rPr b="0" i="0" lang="uk" sz="1300" u="none" cap="none" strike="noStrike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Користувач виконує короткі інтерактивні дії та одразу отримує результат.</a:t>
              </a:r>
              <a:endParaRPr b="0" i="0" sz="13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1150" lvl="0" marL="45720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595959"/>
                </a:buClr>
                <a:buSzPts val="1300"/>
                <a:buFont typeface="Lato"/>
                <a:buChar char="●"/>
              </a:pPr>
              <a:r>
                <a:rPr b="0" i="0" lang="uk" sz="1300" u="none" cap="none" strike="noStrike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Система повинна зберігати прогрес, спроби, бали й історію активності.</a:t>
              </a:r>
              <a:endParaRPr b="0" i="0" sz="13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1150" lvl="0" marL="45720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595959"/>
                </a:buClr>
                <a:buSzPts val="1300"/>
                <a:buFont typeface="Lato"/>
                <a:buChar char="●"/>
              </a:pPr>
              <a:r>
                <a:rPr b="0" i="0" lang="uk" sz="1300" u="none" cap="none" strike="noStrike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Важливими є асинхронне навчання, мотивація та соціальна взаємодія.</a:t>
              </a:r>
              <a:endParaRPr b="0" i="0" sz="13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51" name="Google Shape;151;p2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  <p:pic>
        <p:nvPicPr>
          <p:cNvPr id="152" name="Google Shape;152;p26"/>
          <p:cNvPicPr preferRelativeResize="0"/>
          <p:nvPr/>
        </p:nvPicPr>
        <p:blipFill rotWithShape="1">
          <a:blip r:embed="rId4">
            <a:alphaModFix/>
          </a:blip>
          <a:srcRect b="10913" l="0" r="0" t="0"/>
          <a:stretch/>
        </p:blipFill>
        <p:spPr>
          <a:xfrm>
            <a:off x="4798125" y="2045552"/>
            <a:ext cx="4102950" cy="2134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9EDEE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8" name="Google Shape;158;p27"/>
          <p:cNvGrpSpPr/>
          <p:nvPr/>
        </p:nvGrpSpPr>
        <p:grpSpPr>
          <a:xfrm>
            <a:off x="830394" y="1191277"/>
            <a:ext cx="745763" cy="45826"/>
            <a:chOff x="4580561" y="2589004"/>
            <a:chExt cx="1064464" cy="25200"/>
          </a:xfrm>
        </p:grpSpPr>
        <p:sp>
          <p:nvSpPr>
            <p:cNvPr id="159" name="Google Shape;159;p2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2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1" name="Google Shape;161;p27"/>
          <p:cNvSpPr txBox="1"/>
          <p:nvPr>
            <p:ph type="title"/>
          </p:nvPr>
        </p:nvSpPr>
        <p:spPr>
          <a:xfrm>
            <a:off x="727650" y="5870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uk"/>
              <a:t>Аналіз предметної галузі та аналогів</a:t>
            </a:r>
            <a:endParaRPr/>
          </a:p>
        </p:txBody>
      </p:sp>
      <p:grpSp>
        <p:nvGrpSpPr>
          <p:cNvPr id="162" name="Google Shape;162;p27"/>
          <p:cNvGrpSpPr/>
          <p:nvPr/>
        </p:nvGrpSpPr>
        <p:grpSpPr>
          <a:xfrm>
            <a:off x="723900" y="1333500"/>
            <a:ext cx="7397850" cy="3000375"/>
            <a:chOff x="723900" y="1333500"/>
            <a:chExt cx="7397850" cy="3000375"/>
          </a:xfrm>
        </p:grpSpPr>
        <p:sp>
          <p:nvSpPr>
            <p:cNvPr id="163" name="Google Shape;163;p27"/>
            <p:cNvSpPr/>
            <p:nvPr/>
          </p:nvSpPr>
          <p:spPr>
            <a:xfrm>
              <a:off x="723900" y="1333500"/>
              <a:ext cx="2741100" cy="1714500"/>
            </a:xfrm>
            <a:prstGeom prst="roundRect">
              <a:avLst>
                <a:gd fmla="val 6666" name="adj"/>
              </a:avLst>
            </a:prstGeom>
            <a:solidFill>
              <a:srgbClr val="F8FAF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27"/>
            <p:cNvSpPr txBox="1"/>
            <p:nvPr/>
          </p:nvSpPr>
          <p:spPr>
            <a:xfrm>
              <a:off x="819150" y="1428750"/>
              <a:ext cx="2741100" cy="1524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uk" sz="1400" u="none" cap="none" strike="noStrike">
                  <a:solidFill>
                    <a:srgbClr val="EB5600"/>
                  </a:solidFill>
                  <a:latin typeface="Lato"/>
                  <a:ea typeface="Lato"/>
                  <a:cs typeface="Lato"/>
                  <a:sym typeface="Lato"/>
                </a:rPr>
                <a:t>Проблеми галузі</a:t>
              </a:r>
              <a:endParaRPr b="1" i="0" sz="1400" u="none" cap="none" strike="noStrike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uk" sz="1300" u="none" cap="none" strike="noStrike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Фрагментарність навчання, низька регулярність занять, потреба в локалізації, приватності та керуванні доступом.</a:t>
              </a:r>
              <a:endParaRPr b="0" i="0" sz="13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65" name="Google Shape;165;p27"/>
            <p:cNvSpPr/>
            <p:nvPr/>
          </p:nvSpPr>
          <p:spPr>
            <a:xfrm>
              <a:off x="723900" y="3190875"/>
              <a:ext cx="2741100" cy="1143000"/>
            </a:xfrm>
            <a:prstGeom prst="roundRect">
              <a:avLst>
                <a:gd fmla="val 10000" name="adj"/>
              </a:avLst>
            </a:prstGeom>
            <a:solidFill>
              <a:srgbClr val="F8FAF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27"/>
            <p:cNvSpPr txBox="1"/>
            <p:nvPr/>
          </p:nvSpPr>
          <p:spPr>
            <a:xfrm>
              <a:off x="819150" y="3286125"/>
              <a:ext cx="25569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uk" sz="1400" u="none" cap="none" strike="noStrike">
                  <a:solidFill>
                    <a:srgbClr val="1A9988"/>
                  </a:solidFill>
                  <a:latin typeface="Lato"/>
                  <a:ea typeface="Lato"/>
                  <a:cs typeface="Lato"/>
                  <a:sym typeface="Lato"/>
                </a:rPr>
                <a:t>Рішення LangBang</a:t>
              </a:r>
              <a:endParaRPr b="1" i="0" sz="1400" u="none" cap="none" strike="noStrike">
                <a:solidFill>
                  <a:srgbClr val="1A998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uk" sz="1300" u="none" cap="none" strike="noStrike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Курси + прогрес + гейміфікація + чат + адмін-панель.</a:t>
              </a:r>
              <a:endParaRPr b="0" i="0" sz="13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67" name="Google Shape;167;p27"/>
            <p:cNvSpPr/>
            <p:nvPr/>
          </p:nvSpPr>
          <p:spPr>
            <a:xfrm>
              <a:off x="4311750" y="1333538"/>
              <a:ext cx="3810000" cy="3000300"/>
            </a:xfrm>
            <a:prstGeom prst="roundRect">
              <a:avLst>
                <a:gd fmla="val 3809" name="adj"/>
              </a:avLst>
            </a:prstGeom>
            <a:solidFill>
              <a:srgbClr val="FFFFFF"/>
            </a:solidFill>
            <a:ln cap="flat" cmpd="sng" w="9525">
              <a:solidFill>
                <a:srgbClr val="E9ED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27"/>
            <p:cNvSpPr txBox="1"/>
            <p:nvPr/>
          </p:nvSpPr>
          <p:spPr>
            <a:xfrm>
              <a:off x="4572000" y="1571625"/>
              <a:ext cx="34290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uk" sz="1500" u="none" cap="none" strike="noStrike">
                  <a:solidFill>
                    <a:srgbClr val="1A1A1A"/>
                  </a:solidFill>
                  <a:latin typeface="Lato"/>
                  <a:ea typeface="Lato"/>
                  <a:cs typeface="Lato"/>
                  <a:sym typeface="Lato"/>
                </a:rPr>
                <a:t>Аналіз аналогів</a:t>
              </a:r>
              <a:endParaRPr b="1" i="0" sz="150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69" name="Google Shape;169;p2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  <p:pic>
        <p:nvPicPr>
          <p:cNvPr id="170" name="Google Shape;17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1475" y="1868075"/>
            <a:ext cx="3326150" cy="2217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28"/>
          <p:cNvGrpSpPr/>
          <p:nvPr/>
        </p:nvGrpSpPr>
        <p:grpSpPr>
          <a:xfrm>
            <a:off x="-1871583" y="-2616124"/>
            <a:ext cx="3447740" cy="3853227"/>
            <a:chOff x="723900" y="495300"/>
            <a:chExt cx="4921125" cy="2118904"/>
          </a:xfrm>
        </p:grpSpPr>
        <p:sp>
          <p:nvSpPr>
            <p:cNvPr id="176" name="Google Shape;176;p2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2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28"/>
            <p:cNvSpPr/>
            <p:nvPr/>
          </p:nvSpPr>
          <p:spPr>
            <a:xfrm>
              <a:off x="723900" y="495300"/>
              <a:ext cx="381000" cy="57300"/>
            </a:xfrm>
            <a:prstGeom prst="rect">
              <a:avLst/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28"/>
            <p:cNvSpPr/>
            <p:nvPr/>
          </p:nvSpPr>
          <p:spPr>
            <a:xfrm>
              <a:off x="1143000" y="495300"/>
              <a:ext cx="381000" cy="57300"/>
            </a:xfrm>
            <a:prstGeom prst="rect">
              <a:avLst/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0" name="Google Shape;180;p28"/>
          <p:cNvSpPr txBox="1"/>
          <p:nvPr>
            <p:ph type="title"/>
          </p:nvPr>
        </p:nvSpPr>
        <p:spPr>
          <a:xfrm>
            <a:off x="727650" y="647700"/>
            <a:ext cx="76887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1" i="0" lang="uk" sz="32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Постановка задачі</a:t>
            </a:r>
            <a:endParaRPr b="1" i="0" sz="3200">
              <a:solidFill>
                <a:srgbClr val="1A1A1A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1" name="Google Shape;181;p2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  <p:sp>
        <p:nvSpPr>
          <p:cNvPr id="182" name="Google Shape;182;p28"/>
          <p:cNvSpPr txBox="1"/>
          <p:nvPr/>
        </p:nvSpPr>
        <p:spPr>
          <a:xfrm>
            <a:off x="723900" y="1238250"/>
            <a:ext cx="7686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uk" sz="16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Необхідно спроєктувати та реалізувати вебсистему LangBang</a:t>
            </a:r>
            <a:endParaRPr b="1" i="0" sz="16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83" name="Google Shape;183;p28"/>
          <p:cNvGrpSpPr/>
          <p:nvPr/>
        </p:nvGrpSpPr>
        <p:grpSpPr>
          <a:xfrm>
            <a:off x="723900" y="1714500"/>
            <a:ext cx="7762950" cy="2809875"/>
            <a:chOff x="723900" y="1714500"/>
            <a:chExt cx="7762950" cy="2809875"/>
          </a:xfrm>
        </p:grpSpPr>
        <p:sp>
          <p:nvSpPr>
            <p:cNvPr id="184" name="Google Shape;184;p28"/>
            <p:cNvSpPr/>
            <p:nvPr/>
          </p:nvSpPr>
          <p:spPr>
            <a:xfrm>
              <a:off x="723900" y="1714500"/>
              <a:ext cx="2524200" cy="1333500"/>
            </a:xfrm>
            <a:prstGeom prst="roundRect">
              <a:avLst>
                <a:gd fmla="val 8571" name="adj"/>
              </a:avLst>
            </a:prstGeom>
            <a:solidFill>
              <a:srgbClr val="F8FAF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28"/>
            <p:cNvSpPr txBox="1"/>
            <p:nvPr/>
          </p:nvSpPr>
          <p:spPr>
            <a:xfrm>
              <a:off x="819150" y="1809750"/>
              <a:ext cx="23337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uk" sz="1300" u="none" cap="none" strike="noStrike">
                  <a:solidFill>
                    <a:srgbClr val="1A1A1A"/>
                  </a:solidFill>
                  <a:latin typeface="Lato"/>
                  <a:ea typeface="Lato"/>
                  <a:cs typeface="Lato"/>
                  <a:sym typeface="Lato"/>
                </a:rPr>
                <a:t>Клієнтська частина</a:t>
              </a:r>
              <a:endParaRPr b="1" i="0" sz="130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uk" sz="1100" u="none" cap="none" strike="noStrike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Односторінковий застосунок у браузері (SPA).</a:t>
              </a:r>
              <a:endParaRPr b="0" i="0" sz="11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86" name="Google Shape;186;p28"/>
            <p:cNvSpPr/>
            <p:nvPr/>
          </p:nvSpPr>
          <p:spPr>
            <a:xfrm>
              <a:off x="3343275" y="1714500"/>
              <a:ext cx="2524200" cy="1333500"/>
            </a:xfrm>
            <a:prstGeom prst="roundRect">
              <a:avLst>
                <a:gd fmla="val 8571" name="adj"/>
              </a:avLst>
            </a:prstGeom>
            <a:solidFill>
              <a:srgbClr val="F8FAF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28"/>
            <p:cNvSpPr txBox="1"/>
            <p:nvPr/>
          </p:nvSpPr>
          <p:spPr>
            <a:xfrm>
              <a:off x="3438525" y="1809750"/>
              <a:ext cx="23337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uk" sz="1300" u="none" cap="none" strike="noStrike">
                  <a:solidFill>
                    <a:srgbClr val="1A1A1A"/>
                  </a:solidFill>
                  <a:latin typeface="Lato"/>
                  <a:ea typeface="Lato"/>
                  <a:cs typeface="Lato"/>
                  <a:sym typeface="Lato"/>
                </a:rPr>
                <a:t>Серверна частина</a:t>
              </a:r>
              <a:endParaRPr b="1" i="0" sz="130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uk" sz="1100" u="none" cap="none" strike="noStrike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REST API та стабільна робота з базою даних.</a:t>
              </a:r>
              <a:endParaRPr b="0" i="0" sz="11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88" name="Google Shape;188;p28"/>
            <p:cNvSpPr/>
            <p:nvPr/>
          </p:nvSpPr>
          <p:spPr>
            <a:xfrm>
              <a:off x="5962650" y="1714500"/>
              <a:ext cx="2524200" cy="1333500"/>
            </a:xfrm>
            <a:prstGeom prst="roundRect">
              <a:avLst>
                <a:gd fmla="val 8571" name="adj"/>
              </a:avLst>
            </a:prstGeom>
            <a:solidFill>
              <a:srgbClr val="F8FAF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28"/>
            <p:cNvSpPr txBox="1"/>
            <p:nvPr/>
          </p:nvSpPr>
          <p:spPr>
            <a:xfrm>
              <a:off x="6057900" y="1809750"/>
              <a:ext cx="23337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uk" sz="1300" u="none" cap="none" strike="noStrike">
                  <a:solidFill>
                    <a:srgbClr val="1A1A1A"/>
                  </a:solidFill>
                  <a:latin typeface="Lato"/>
                  <a:ea typeface="Lato"/>
                  <a:cs typeface="Lato"/>
                  <a:sym typeface="Lato"/>
                </a:rPr>
                <a:t>Навчання</a:t>
              </a:r>
              <a:endParaRPr b="1" i="0" sz="130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uk" sz="1100" u="none" cap="none" strike="noStrike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Каталог курсів, уроки, вправи та перевірка відповідей.</a:t>
              </a:r>
              <a:endParaRPr b="0" i="0" sz="11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90" name="Google Shape;190;p28"/>
            <p:cNvSpPr/>
            <p:nvPr/>
          </p:nvSpPr>
          <p:spPr>
            <a:xfrm>
              <a:off x="723900" y="3190875"/>
              <a:ext cx="2524200" cy="1333500"/>
            </a:xfrm>
            <a:prstGeom prst="roundRect">
              <a:avLst>
                <a:gd fmla="val 8571" name="adj"/>
              </a:avLst>
            </a:prstGeom>
            <a:solidFill>
              <a:srgbClr val="F8FAF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28"/>
            <p:cNvSpPr txBox="1"/>
            <p:nvPr/>
          </p:nvSpPr>
          <p:spPr>
            <a:xfrm>
              <a:off x="819150" y="3286125"/>
              <a:ext cx="23337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uk" sz="1300" u="none" cap="none" strike="noStrike">
                  <a:solidFill>
                    <a:srgbClr val="1A1A1A"/>
                  </a:solidFill>
                  <a:latin typeface="Lato"/>
                  <a:ea typeface="Lato"/>
                  <a:cs typeface="Lato"/>
                  <a:sym typeface="Lato"/>
                </a:rPr>
                <a:t>Прогрес</a:t>
              </a:r>
              <a:endParaRPr b="1" i="0" sz="130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uk" sz="1100" u="none" cap="none" strike="noStrike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Бали, статистика, серія активності, досягнення та рейтинг.</a:t>
              </a:r>
              <a:endParaRPr b="0" i="0" sz="11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92" name="Google Shape;192;p28"/>
            <p:cNvSpPr/>
            <p:nvPr/>
          </p:nvSpPr>
          <p:spPr>
            <a:xfrm>
              <a:off x="3343275" y="3190875"/>
              <a:ext cx="2524200" cy="1333500"/>
            </a:xfrm>
            <a:prstGeom prst="roundRect">
              <a:avLst>
                <a:gd fmla="val 8571" name="adj"/>
              </a:avLst>
            </a:prstGeom>
            <a:solidFill>
              <a:srgbClr val="F8FAF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28"/>
            <p:cNvSpPr txBox="1"/>
            <p:nvPr/>
          </p:nvSpPr>
          <p:spPr>
            <a:xfrm>
              <a:off x="3438525" y="3286125"/>
              <a:ext cx="23337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uk" sz="1300" u="none" cap="none" strike="noStrike">
                  <a:solidFill>
                    <a:srgbClr val="1A1A1A"/>
                  </a:solidFill>
                  <a:latin typeface="Lato"/>
                  <a:ea typeface="Lato"/>
                  <a:cs typeface="Lato"/>
                  <a:sym typeface="Lato"/>
                </a:rPr>
                <a:t>Комунікація</a:t>
              </a:r>
              <a:endParaRPr b="1" i="0" sz="130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uk" sz="1100" u="none" cap="none" strike="noStrike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Прямі чати, приватність та модерація повідомлень.</a:t>
              </a:r>
              <a:endParaRPr b="0" i="0" sz="11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94" name="Google Shape;194;p28"/>
            <p:cNvSpPr/>
            <p:nvPr/>
          </p:nvSpPr>
          <p:spPr>
            <a:xfrm>
              <a:off x="5962650" y="3190875"/>
              <a:ext cx="2524200" cy="1333500"/>
            </a:xfrm>
            <a:prstGeom prst="roundRect">
              <a:avLst>
                <a:gd fmla="val 8571" name="adj"/>
              </a:avLst>
            </a:prstGeom>
            <a:solidFill>
              <a:srgbClr val="F8FAF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28"/>
            <p:cNvSpPr txBox="1"/>
            <p:nvPr/>
          </p:nvSpPr>
          <p:spPr>
            <a:xfrm>
              <a:off x="6057900" y="3286125"/>
              <a:ext cx="23337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uk" sz="1300" u="none" cap="none" strike="noStrike">
                  <a:solidFill>
                    <a:srgbClr val="1A1A1A"/>
                  </a:solidFill>
                  <a:latin typeface="Lato"/>
                  <a:ea typeface="Lato"/>
                  <a:cs typeface="Lato"/>
                  <a:sym typeface="Lato"/>
                </a:rPr>
                <a:t>Адміністрування</a:t>
              </a:r>
              <a:endParaRPr b="1" i="0" sz="1300" u="none" cap="none" strike="noStrik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uk" sz="1100" u="none" cap="none" strike="noStrike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Керування користувачами, контентом, ролями та даними.</a:t>
              </a:r>
              <a:endParaRPr b="0" i="0" sz="11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1" name="Google Shape;201;p29"/>
          <p:cNvGrpSpPr/>
          <p:nvPr/>
        </p:nvGrpSpPr>
        <p:grpSpPr>
          <a:xfrm>
            <a:off x="830394" y="1191277"/>
            <a:ext cx="745763" cy="45826"/>
            <a:chOff x="4580561" y="2589004"/>
            <a:chExt cx="1064464" cy="25200"/>
          </a:xfrm>
        </p:grpSpPr>
        <p:sp>
          <p:nvSpPr>
            <p:cNvPr id="202" name="Google Shape;202;p2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2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4" name="Google Shape;204;p29"/>
          <p:cNvSpPr txBox="1"/>
          <p:nvPr>
            <p:ph type="title"/>
          </p:nvPr>
        </p:nvSpPr>
        <p:spPr>
          <a:xfrm>
            <a:off x="727650" y="5944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uk"/>
              <a:t>Архітектура ПЗ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grpSp>
        <p:nvGrpSpPr>
          <p:cNvPr id="205" name="Google Shape;205;p29"/>
          <p:cNvGrpSpPr/>
          <p:nvPr/>
        </p:nvGrpSpPr>
        <p:grpSpPr>
          <a:xfrm>
            <a:off x="723900" y="1298738"/>
            <a:ext cx="3667200" cy="3231637"/>
            <a:chOff x="723900" y="1298738"/>
            <a:chExt cx="3667200" cy="3231637"/>
          </a:xfrm>
        </p:grpSpPr>
        <p:sp>
          <p:nvSpPr>
            <p:cNvPr id="206" name="Google Shape;206;p29"/>
            <p:cNvSpPr/>
            <p:nvPr/>
          </p:nvSpPr>
          <p:spPr>
            <a:xfrm>
              <a:off x="723900" y="3006375"/>
              <a:ext cx="3667200" cy="1524000"/>
            </a:xfrm>
            <a:prstGeom prst="roundRect">
              <a:avLst>
                <a:gd fmla="val 7500" name="adj"/>
              </a:avLst>
            </a:prstGeom>
            <a:solidFill>
              <a:srgbClr val="F8FAF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29"/>
            <p:cNvSpPr txBox="1"/>
            <p:nvPr/>
          </p:nvSpPr>
          <p:spPr>
            <a:xfrm>
              <a:off x="914400" y="3149250"/>
              <a:ext cx="32862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uk" sz="1300" u="none" cap="none" strike="noStrike">
                  <a:solidFill>
                    <a:srgbClr val="EB5600"/>
                  </a:solidFill>
                  <a:latin typeface="Lato"/>
                  <a:ea typeface="Lato"/>
                  <a:cs typeface="Lato"/>
                  <a:sym typeface="Lato"/>
                </a:rPr>
                <a:t>Структура та обмін даними</a:t>
              </a:r>
              <a:endParaRPr b="1" i="0" sz="1300" u="none" cap="none" strike="noStrike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uk" sz="1300" u="none" cap="none" strike="noStrike">
                  <a:solidFill>
                    <a:srgbClr val="1A1A1A"/>
                  </a:solidFill>
                  <a:latin typeface="Lato"/>
                  <a:ea typeface="Lato"/>
                  <a:cs typeface="Lato"/>
                  <a:sym typeface="Lato"/>
                </a:rPr>
                <a:t>Логіка:</a:t>
              </a:r>
              <a:r>
                <a:rPr b="0" i="0" lang="uk" sz="1300" u="none" cap="none" strike="noStrike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 routes → controllers → services → Prisma Client.</a:t>
              </a:r>
              <a:endParaRPr b="0" i="0" sz="13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uk" sz="1300" u="none" cap="none" strike="noStrike">
                  <a:solidFill>
                    <a:srgbClr val="1A1A1A"/>
                  </a:solidFill>
                  <a:latin typeface="Lato"/>
                  <a:ea typeface="Lato"/>
                  <a:cs typeface="Lato"/>
                  <a:sym typeface="Lato"/>
                </a:rPr>
                <a:t>Протоколи:</a:t>
              </a:r>
              <a:r>
                <a:rPr b="0" i="0" lang="uk" sz="1300" u="none" cap="none" strike="noStrike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 REST API (JSON / HTTPS).</a:t>
              </a:r>
              <a:endParaRPr b="0" i="0" sz="13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uk" sz="1300" u="none" cap="none" strike="noStrike">
                  <a:solidFill>
                    <a:srgbClr val="1A1A1A"/>
                  </a:solidFill>
                  <a:latin typeface="Lato"/>
                  <a:ea typeface="Lato"/>
                  <a:cs typeface="Lato"/>
                  <a:sym typeface="Lato"/>
                </a:rPr>
                <a:t>Real-time:</a:t>
              </a:r>
              <a:r>
                <a:rPr b="0" i="0" lang="uk" sz="1300" u="none" cap="none" strike="noStrike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 WebSocket через Socket.IO.</a:t>
              </a:r>
              <a:endParaRPr b="0" i="0" sz="13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08" name="Google Shape;208;p29"/>
            <p:cNvSpPr/>
            <p:nvPr/>
          </p:nvSpPr>
          <p:spPr>
            <a:xfrm>
              <a:off x="723900" y="1298738"/>
              <a:ext cx="3667200" cy="1524000"/>
            </a:xfrm>
            <a:prstGeom prst="roundRect">
              <a:avLst>
                <a:gd fmla="val 7500" name="adj"/>
              </a:avLst>
            </a:prstGeom>
            <a:solidFill>
              <a:srgbClr val="F8FAF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29"/>
            <p:cNvSpPr txBox="1"/>
            <p:nvPr/>
          </p:nvSpPr>
          <p:spPr>
            <a:xfrm>
              <a:off x="914400" y="1441613"/>
              <a:ext cx="32862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uk" sz="1300" u="none" cap="none" strike="noStrike">
                  <a:solidFill>
                    <a:srgbClr val="1A9988"/>
                  </a:solidFill>
                  <a:latin typeface="Lato"/>
                  <a:ea typeface="Lato"/>
                  <a:cs typeface="Lato"/>
                  <a:sym typeface="Lato"/>
                </a:rPr>
                <a:t>Безпека системи</a:t>
              </a:r>
              <a:endParaRPr b="1" i="0" sz="1300" u="none" cap="none" strike="noStrike">
                <a:solidFill>
                  <a:srgbClr val="1A998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uk" sz="1300" u="none" cap="none" strike="noStrike">
                  <a:solidFill>
                    <a:srgbClr val="1A1A1A"/>
                  </a:solidFill>
                  <a:latin typeface="Lato"/>
                  <a:ea typeface="Lato"/>
                  <a:cs typeface="Lato"/>
                  <a:sym typeface="Lato"/>
                </a:rPr>
                <a:t>Авторизація:</a:t>
              </a:r>
              <a:r>
                <a:rPr b="0" i="0" lang="uk" sz="1300" u="none" cap="none" strike="noStrike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 JSON Web Token (JWT).</a:t>
              </a:r>
              <a:endParaRPr b="0" i="0" sz="13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uk" sz="1300" u="none" cap="none" strike="noStrike">
                  <a:solidFill>
                    <a:srgbClr val="1A1A1A"/>
                  </a:solidFill>
                  <a:latin typeface="Lato"/>
                  <a:ea typeface="Lato"/>
                  <a:cs typeface="Lato"/>
                  <a:sym typeface="Lato"/>
                </a:rPr>
                <a:t>Захист:</a:t>
              </a:r>
              <a:r>
                <a:rPr b="0" i="0" lang="uk" sz="1300" u="none" cap="none" strike="noStrike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 httpOnly cookie для запобігання XSS.</a:t>
              </a:r>
              <a:endParaRPr b="0" i="0" sz="13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uk" sz="1300" u="none" cap="none" strike="noStrike">
                  <a:solidFill>
                    <a:srgbClr val="1A1A1A"/>
                  </a:solidFill>
                  <a:latin typeface="Lato"/>
                  <a:ea typeface="Lato"/>
                  <a:cs typeface="Lato"/>
                  <a:sym typeface="Lato"/>
                </a:rPr>
                <a:t>Доступ:</a:t>
              </a:r>
              <a:r>
                <a:rPr b="0" i="0" lang="uk" sz="1300" u="none" cap="none" strike="noStrike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 Рольова модель дозволів (RBAC).</a:t>
              </a:r>
              <a:endParaRPr b="0" i="0" sz="13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210" name="Google Shape;210;p2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  <p:pic>
        <p:nvPicPr>
          <p:cNvPr id="211" name="Google Shape;21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96625" y="594425"/>
            <a:ext cx="2669924" cy="4299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7" name="Google Shape;217;p30"/>
          <p:cNvGrpSpPr/>
          <p:nvPr/>
        </p:nvGrpSpPr>
        <p:grpSpPr>
          <a:xfrm>
            <a:off x="830394" y="1191277"/>
            <a:ext cx="745763" cy="45826"/>
            <a:chOff x="4580561" y="2589004"/>
            <a:chExt cx="1064464" cy="25200"/>
          </a:xfrm>
        </p:grpSpPr>
        <p:sp>
          <p:nvSpPr>
            <p:cNvPr id="218" name="Google Shape;218;p3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3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0" name="Google Shape;220;p30"/>
          <p:cNvSpPr txBox="1"/>
          <p:nvPr/>
        </p:nvSpPr>
        <p:spPr>
          <a:xfrm>
            <a:off x="723900" y="571500"/>
            <a:ext cx="7686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uk" sz="2600" u="none" cap="none" strike="noStrike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Проєктування ПЗ: ролі та сценарії</a:t>
            </a:r>
            <a:endParaRPr b="1" i="0" sz="2600" u="none" cap="none" strike="noStrike">
              <a:solidFill>
                <a:srgbClr val="1A1A1A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221" name="Google Shape;221;p30"/>
          <p:cNvGrpSpPr/>
          <p:nvPr/>
        </p:nvGrpSpPr>
        <p:grpSpPr>
          <a:xfrm>
            <a:off x="723900" y="1333500"/>
            <a:ext cx="3762300" cy="2381400"/>
            <a:chOff x="723900" y="1333500"/>
            <a:chExt cx="3762300" cy="2381400"/>
          </a:xfrm>
        </p:grpSpPr>
        <p:sp>
          <p:nvSpPr>
            <p:cNvPr id="222" name="Google Shape;222;p30"/>
            <p:cNvSpPr/>
            <p:nvPr/>
          </p:nvSpPr>
          <p:spPr>
            <a:xfrm>
              <a:off x="723900" y="1333500"/>
              <a:ext cx="3762300" cy="2381400"/>
            </a:xfrm>
            <a:prstGeom prst="roundRect">
              <a:avLst>
                <a:gd fmla="val 4800" name="adj"/>
              </a:avLst>
            </a:prstGeom>
            <a:solidFill>
              <a:srgbClr val="F8FAF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30"/>
            <p:cNvSpPr txBox="1"/>
            <p:nvPr/>
          </p:nvSpPr>
          <p:spPr>
            <a:xfrm>
              <a:off x="914400" y="1476375"/>
              <a:ext cx="33813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uk" sz="1500" u="none" cap="none" strike="noStrike">
                  <a:solidFill>
                    <a:srgbClr val="1A9988"/>
                  </a:solidFill>
                  <a:latin typeface="Lato"/>
                  <a:ea typeface="Lato"/>
                  <a:cs typeface="Lato"/>
                  <a:sym typeface="Lato"/>
                </a:rPr>
                <a:t>Основні актори</a:t>
              </a:r>
              <a:endParaRPr b="1" i="0" sz="1500" u="none" cap="none" strike="noStrike">
                <a:solidFill>
                  <a:srgbClr val="1A998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uk" sz="1300" u="none" cap="none" strike="noStrike">
                  <a:solidFill>
                    <a:srgbClr val="1A1A1A"/>
                  </a:solidFill>
                  <a:latin typeface="Lato"/>
                  <a:ea typeface="Lato"/>
                  <a:cs typeface="Lato"/>
                  <a:sym typeface="Lato"/>
                </a:rPr>
                <a:t>Гість:</a:t>
              </a:r>
              <a:r>
                <a:rPr b="0" i="0" lang="uk" sz="1300" u="none" cap="none" strike="noStrike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 реєстрація, вхід, відновлення пароля.</a:t>
              </a:r>
              <a:endParaRPr b="0" i="0" sz="13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uk" sz="1300" u="none" cap="none" strike="noStrike">
                  <a:solidFill>
                    <a:srgbClr val="1A1A1A"/>
                  </a:solidFill>
                  <a:latin typeface="Lato"/>
                  <a:ea typeface="Lato"/>
                  <a:cs typeface="Lato"/>
                  <a:sym typeface="Lato"/>
                </a:rPr>
                <a:t>Користувач:</a:t>
              </a:r>
              <a:r>
                <a:rPr b="0" i="0" lang="uk" sz="1300" u="none" cap="none" strike="noStrike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 онбординг, курси, уроки, статистика.</a:t>
              </a:r>
              <a:endParaRPr b="0" i="0" sz="13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uk" sz="1300" u="none" cap="none" strike="noStrike">
                  <a:solidFill>
                    <a:srgbClr val="1A1A1A"/>
                  </a:solidFill>
                  <a:latin typeface="Lato"/>
                  <a:ea typeface="Lato"/>
                  <a:cs typeface="Lato"/>
                  <a:sym typeface="Lato"/>
                </a:rPr>
                <a:t>Менеджер:</a:t>
              </a:r>
              <a:r>
                <a:rPr b="0" i="0" lang="uk" sz="1300" u="none" cap="none" strike="noStrike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 мови, курси, уроки, вправи.</a:t>
              </a:r>
              <a:endParaRPr b="0" i="0" sz="13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uk" sz="1300" u="none" cap="none" strike="noStrike">
                  <a:solidFill>
                    <a:srgbClr val="1A1A1A"/>
                  </a:solidFill>
                  <a:latin typeface="Lato"/>
                  <a:ea typeface="Lato"/>
                  <a:cs typeface="Lato"/>
                  <a:sym typeface="Lato"/>
                </a:rPr>
                <a:t>Модератор:</a:t>
              </a:r>
              <a:r>
                <a:rPr b="0" i="0" lang="uk" sz="1300" u="none" cap="none" strike="noStrike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 перегляд, пошук і видалення.</a:t>
              </a:r>
              <a:endParaRPr b="0" i="0" sz="13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uk" sz="1300" u="none" cap="none" strike="noStrike">
                  <a:solidFill>
                    <a:srgbClr val="1A1A1A"/>
                  </a:solidFill>
                  <a:latin typeface="Lato"/>
                  <a:ea typeface="Lato"/>
                  <a:cs typeface="Lato"/>
                  <a:sym typeface="Lato"/>
                </a:rPr>
                <a:t>Адмін:</a:t>
              </a:r>
              <a:r>
                <a:rPr b="0" i="0" lang="uk" sz="1300" u="none" cap="none" strike="noStrike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 ролі, статистика, повний доступ.</a:t>
              </a:r>
              <a:endParaRPr b="0" i="0" sz="13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224" name="Google Shape;224;p3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  <p:grpSp>
        <p:nvGrpSpPr>
          <p:cNvPr id="225" name="Google Shape;225;p30"/>
          <p:cNvGrpSpPr/>
          <p:nvPr/>
        </p:nvGrpSpPr>
        <p:grpSpPr>
          <a:xfrm>
            <a:off x="4667250" y="1333500"/>
            <a:ext cx="3762300" cy="2381400"/>
            <a:chOff x="4667250" y="1333500"/>
            <a:chExt cx="3762300" cy="2381400"/>
          </a:xfrm>
        </p:grpSpPr>
        <p:sp>
          <p:nvSpPr>
            <p:cNvPr id="226" name="Google Shape;226;p30"/>
            <p:cNvSpPr/>
            <p:nvPr/>
          </p:nvSpPr>
          <p:spPr>
            <a:xfrm>
              <a:off x="4667250" y="1333500"/>
              <a:ext cx="3762300" cy="2381400"/>
            </a:xfrm>
            <a:prstGeom prst="roundRect">
              <a:avLst>
                <a:gd fmla="val 4800" name="adj"/>
              </a:avLst>
            </a:prstGeom>
            <a:solidFill>
              <a:srgbClr val="F8FAF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30"/>
            <p:cNvSpPr txBox="1"/>
            <p:nvPr/>
          </p:nvSpPr>
          <p:spPr>
            <a:xfrm>
              <a:off x="4857750" y="1476375"/>
              <a:ext cx="33813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uk" sz="1500" u="none" cap="none" strike="noStrike">
                  <a:solidFill>
                    <a:srgbClr val="EB5600"/>
                  </a:solidFill>
                  <a:latin typeface="Lato"/>
                  <a:ea typeface="Lato"/>
                  <a:cs typeface="Lato"/>
                  <a:sym typeface="Lato"/>
                </a:rPr>
                <a:t>Сценарій вправи</a:t>
              </a:r>
              <a:endParaRPr b="1" i="0" sz="1500" u="none" cap="none" strike="noStrike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23850" lvl="0" marL="457200" marR="0" rtl="0" algn="l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595959"/>
                </a:buClr>
                <a:buSzPts val="1500"/>
                <a:buFont typeface="Lato"/>
                <a:buChar char="●"/>
              </a:pPr>
              <a:r>
                <a:rPr i="0" lang="uk" sz="1500" u="none" cap="none" strike="noStrike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Відповідь</a:t>
              </a:r>
              <a:endParaRPr i="0" sz="15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2385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500"/>
                <a:buFont typeface="Lato"/>
                <a:buChar char="●"/>
              </a:pPr>
              <a:r>
                <a:rPr i="0" lang="uk" sz="1500" u="none" cap="none" strike="noStrike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Перевірка та прогрес</a:t>
              </a:r>
              <a:endParaRPr i="0" sz="15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2385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500"/>
                <a:buFont typeface="Lato"/>
                <a:buChar char="●"/>
              </a:pPr>
              <a:r>
                <a:rPr i="0" lang="uk" sz="1500" u="none" cap="none" strike="noStrike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Бали та </a:t>
              </a:r>
              <a:r>
                <a:rPr lang="uk" sz="1500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стрік</a:t>
              </a:r>
              <a:endParaRPr i="0" sz="15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2385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500"/>
                <a:buFont typeface="Lato"/>
                <a:buChar char="●"/>
              </a:pPr>
              <a:r>
                <a:rPr i="0" lang="uk" sz="1500" u="none" cap="none" strike="noStrike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Отримання досягнення</a:t>
              </a:r>
              <a:endParaRPr i="0" sz="15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3" name="Google Shape;233;p31"/>
          <p:cNvGrpSpPr/>
          <p:nvPr/>
        </p:nvGrpSpPr>
        <p:grpSpPr>
          <a:xfrm>
            <a:off x="830394" y="1191277"/>
            <a:ext cx="745763" cy="45826"/>
            <a:chOff x="4580561" y="2589004"/>
            <a:chExt cx="1064464" cy="25200"/>
          </a:xfrm>
        </p:grpSpPr>
        <p:sp>
          <p:nvSpPr>
            <p:cNvPr id="234" name="Google Shape;234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6" name="Google Shape;236;p31"/>
          <p:cNvSpPr txBox="1"/>
          <p:nvPr>
            <p:ph type="title"/>
          </p:nvPr>
        </p:nvSpPr>
        <p:spPr>
          <a:xfrm>
            <a:off x="723900" y="571500"/>
            <a:ext cx="7688700" cy="535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1" lang="uk" sz="2800">
                <a:solidFill>
                  <a:srgbClr val="111827"/>
                </a:solidFill>
                <a:latin typeface="Raleway"/>
                <a:ea typeface="Raleway"/>
                <a:cs typeface="Raleway"/>
                <a:sym typeface="Raleway"/>
              </a:rPr>
              <a:t>Проєктування ПЗ: дані та UI/UX</a:t>
            </a:r>
            <a:endParaRPr b="1" sz="2800">
              <a:solidFill>
                <a:srgbClr val="111827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237" name="Google Shape;237;p31"/>
          <p:cNvGrpSpPr/>
          <p:nvPr/>
        </p:nvGrpSpPr>
        <p:grpSpPr>
          <a:xfrm>
            <a:off x="723900" y="1333500"/>
            <a:ext cx="3905400" cy="3238500"/>
            <a:chOff x="723900" y="1333500"/>
            <a:chExt cx="3905400" cy="3238500"/>
          </a:xfrm>
        </p:grpSpPr>
        <p:sp>
          <p:nvSpPr>
            <p:cNvPr id="238" name="Google Shape;238;p31"/>
            <p:cNvSpPr/>
            <p:nvPr/>
          </p:nvSpPr>
          <p:spPr>
            <a:xfrm>
              <a:off x="723900" y="1333500"/>
              <a:ext cx="3905400" cy="3238500"/>
            </a:xfrm>
            <a:prstGeom prst="roundRect">
              <a:avLst>
                <a:gd fmla="val 3529" name="adj"/>
              </a:avLst>
            </a:prstGeom>
            <a:solidFill>
              <a:srgbClr val="F9FAF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31"/>
            <p:cNvSpPr txBox="1"/>
            <p:nvPr/>
          </p:nvSpPr>
          <p:spPr>
            <a:xfrm>
              <a:off x="914400" y="1476375"/>
              <a:ext cx="35244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uk" sz="1500" u="none" cap="none" strike="noStrike">
                  <a:solidFill>
                    <a:srgbClr val="1A9988"/>
                  </a:solidFill>
                  <a:latin typeface="Lato"/>
                  <a:ea typeface="Lato"/>
                  <a:cs typeface="Lato"/>
                  <a:sym typeface="Lato"/>
                </a:rPr>
                <a:t>Структура даних</a:t>
              </a:r>
              <a:endParaRPr b="1" i="0" sz="1500" u="none" cap="none" strike="noStrike">
                <a:solidFill>
                  <a:srgbClr val="1A998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uk" sz="1400" u="none" cap="none" strike="noStrike">
                  <a:solidFill>
                    <a:srgbClr val="111827"/>
                  </a:solidFill>
                  <a:latin typeface="Lato"/>
                  <a:ea typeface="Lato"/>
                  <a:cs typeface="Lato"/>
                  <a:sym typeface="Lato"/>
                </a:rPr>
                <a:t>Основні сутності:</a:t>
              </a:r>
              <a:br>
                <a:rPr b="0" i="0" lang="uk" sz="1400" u="none" cap="none" strike="noStrike">
                  <a:solidFill>
                    <a:srgbClr val="374151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b="0" i="0" lang="uk" sz="13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users, languages, courses, lessons, exercises</a:t>
              </a:r>
              <a:endParaRPr b="0" i="0" sz="14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uk" sz="1400" u="none" cap="none" strike="noStrike">
                  <a:solidFill>
                    <a:srgbClr val="111827"/>
                  </a:solidFill>
                  <a:latin typeface="Lato"/>
                  <a:ea typeface="Lato"/>
                  <a:cs typeface="Lato"/>
                  <a:sym typeface="Lato"/>
                </a:rPr>
                <a:t>Прогрес:</a:t>
              </a:r>
              <a:br>
                <a:rPr b="0" i="0" lang="uk" sz="1400" u="none" cap="none" strike="noStrike">
                  <a:solidFill>
                    <a:srgbClr val="374151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b="0" i="0" lang="uk" sz="13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enrollments, exercise_progress, achievements</a:t>
              </a:r>
              <a:endParaRPr b="0" i="0" sz="14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75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uk" sz="1400" u="none" cap="none" strike="noStrike">
                  <a:solidFill>
                    <a:srgbClr val="111827"/>
                  </a:solidFill>
                  <a:latin typeface="Lato"/>
                  <a:ea typeface="Lato"/>
                  <a:cs typeface="Lato"/>
                  <a:sym typeface="Lato"/>
                </a:rPr>
                <a:t>Чат та доступ:</a:t>
              </a:r>
              <a:br>
                <a:rPr b="0" i="0" lang="uk" sz="1400" u="none" cap="none" strike="noStrike">
                  <a:solidFill>
                    <a:srgbClr val="374151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b="0" i="0" lang="uk" sz="13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conversations, messages, roles, permissions</a:t>
              </a:r>
              <a:endParaRPr b="0" i="0" sz="14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240" name="Google Shape;240;p3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  <p:grpSp>
        <p:nvGrpSpPr>
          <p:cNvPr id="241" name="Google Shape;241;p31"/>
          <p:cNvGrpSpPr/>
          <p:nvPr/>
        </p:nvGrpSpPr>
        <p:grpSpPr>
          <a:xfrm>
            <a:off x="4819650" y="1333500"/>
            <a:ext cx="3600600" cy="3238500"/>
            <a:chOff x="4819650" y="1333500"/>
            <a:chExt cx="3600600" cy="3238500"/>
          </a:xfrm>
        </p:grpSpPr>
        <p:sp>
          <p:nvSpPr>
            <p:cNvPr id="242" name="Google Shape;242;p31"/>
            <p:cNvSpPr/>
            <p:nvPr/>
          </p:nvSpPr>
          <p:spPr>
            <a:xfrm>
              <a:off x="4819650" y="1333500"/>
              <a:ext cx="3600600" cy="3238500"/>
            </a:xfrm>
            <a:prstGeom prst="roundRect">
              <a:avLst>
                <a:gd fmla="val 3529" name="adj"/>
              </a:avLst>
            </a:prstGeom>
            <a:solidFill>
              <a:srgbClr val="F9FAF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31"/>
            <p:cNvSpPr txBox="1"/>
            <p:nvPr/>
          </p:nvSpPr>
          <p:spPr>
            <a:xfrm>
              <a:off x="5010150" y="1476375"/>
              <a:ext cx="32196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uk" sz="1500" u="none" cap="none" strike="noStrike">
                  <a:solidFill>
                    <a:srgbClr val="EB5600"/>
                  </a:solidFill>
                  <a:latin typeface="Lato"/>
                  <a:ea typeface="Lato"/>
                  <a:cs typeface="Lato"/>
                  <a:sym typeface="Lato"/>
                </a:rPr>
                <a:t>Інтерфейс та UI/UX</a:t>
              </a:r>
              <a:endParaRPr b="1" i="0" sz="1500" u="none" cap="none" strike="noStrike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uk" sz="1300" u="none" cap="none" strike="noStrike">
                  <a:solidFill>
                    <a:srgbClr val="111827"/>
                  </a:solidFill>
                  <a:latin typeface="Lato"/>
                  <a:ea typeface="Lato"/>
                  <a:cs typeface="Lato"/>
                  <a:sym typeface="Lato"/>
                </a:rPr>
                <a:t>Зонування</a:t>
              </a:r>
              <a:endParaRPr b="1" i="0" sz="1300" u="none" cap="none" strike="noStrike">
                <a:solidFill>
                  <a:srgbClr val="111827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uk" sz="1300" u="none" cap="none" strike="noStrike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Автентифікація, користувач, адміністрування.</a:t>
              </a:r>
              <a:endParaRPr b="0" i="0" sz="13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uk" sz="1300" u="none" cap="none" strike="noStrike">
                  <a:solidFill>
                    <a:srgbClr val="111827"/>
                  </a:solidFill>
                  <a:latin typeface="Lato"/>
                  <a:ea typeface="Lato"/>
                  <a:cs typeface="Lato"/>
                  <a:sym typeface="Lato"/>
                </a:rPr>
                <a:t>Персоналізація</a:t>
              </a:r>
              <a:endParaRPr b="1" i="0" sz="1300" u="none" cap="none" strike="noStrike">
                <a:solidFill>
                  <a:srgbClr val="111827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uk" sz="1300" u="none" cap="none" strike="noStrike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Темна й світла теми інтерфейсу.</a:t>
              </a:r>
              <a:endParaRPr b="0" i="0" sz="13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uk" sz="1300" u="none" cap="none" strike="noStrike">
                  <a:solidFill>
                    <a:srgbClr val="111827"/>
                  </a:solidFill>
                  <a:latin typeface="Lato"/>
                  <a:ea typeface="Lato"/>
                  <a:cs typeface="Lato"/>
                  <a:sym typeface="Lato"/>
                </a:rPr>
                <a:t>Локалізація</a:t>
              </a:r>
              <a:endParaRPr b="1" i="0" sz="1300" u="none" cap="none" strike="noStrike">
                <a:solidFill>
                  <a:srgbClr val="111827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90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uk" sz="1300" u="none" cap="none" strike="noStrike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Українська та англійська мови.</a:t>
              </a:r>
              <a:endParaRPr b="0" i="0" sz="13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9" name="Google Shape;249;p32"/>
          <p:cNvGrpSpPr/>
          <p:nvPr/>
        </p:nvGrpSpPr>
        <p:grpSpPr>
          <a:xfrm>
            <a:off x="830394" y="1191277"/>
            <a:ext cx="745763" cy="45826"/>
            <a:chOff x="4580561" y="2589004"/>
            <a:chExt cx="1064464" cy="25200"/>
          </a:xfrm>
        </p:grpSpPr>
        <p:sp>
          <p:nvSpPr>
            <p:cNvPr id="250" name="Google Shape;250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2" name="Google Shape;252;p32"/>
          <p:cNvSpPr txBox="1"/>
          <p:nvPr>
            <p:ph type="title"/>
          </p:nvPr>
        </p:nvSpPr>
        <p:spPr>
          <a:xfrm>
            <a:off x="727650" y="5796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uk"/>
              <a:t>Засоби розробки</a:t>
            </a:r>
            <a:endParaRPr/>
          </a:p>
        </p:txBody>
      </p:sp>
      <p:grpSp>
        <p:nvGrpSpPr>
          <p:cNvPr id="253" name="Google Shape;253;p32"/>
          <p:cNvGrpSpPr/>
          <p:nvPr/>
        </p:nvGrpSpPr>
        <p:grpSpPr>
          <a:xfrm>
            <a:off x="723900" y="1381125"/>
            <a:ext cx="3905400" cy="3238500"/>
            <a:chOff x="723900" y="1381125"/>
            <a:chExt cx="3905400" cy="3238500"/>
          </a:xfrm>
        </p:grpSpPr>
        <p:sp>
          <p:nvSpPr>
            <p:cNvPr id="254" name="Google Shape;254;p32"/>
            <p:cNvSpPr/>
            <p:nvPr/>
          </p:nvSpPr>
          <p:spPr>
            <a:xfrm>
              <a:off x="723900" y="1381125"/>
              <a:ext cx="3905400" cy="3238500"/>
            </a:xfrm>
            <a:prstGeom prst="roundRect">
              <a:avLst>
                <a:gd fmla="val 3529" name="adj"/>
              </a:avLst>
            </a:prstGeom>
            <a:solidFill>
              <a:srgbClr val="F9FAF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32"/>
            <p:cNvSpPr txBox="1"/>
            <p:nvPr/>
          </p:nvSpPr>
          <p:spPr>
            <a:xfrm>
              <a:off x="914400" y="1524000"/>
              <a:ext cx="3562200" cy="300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uk" sz="1500" u="none" cap="none" strike="noStrike">
                  <a:solidFill>
                    <a:srgbClr val="1A9988"/>
                  </a:solidFill>
                  <a:latin typeface="Lato"/>
                  <a:ea typeface="Lato"/>
                  <a:cs typeface="Lato"/>
                  <a:sym typeface="Lato"/>
                </a:rPr>
                <a:t>Технології та інструменти</a:t>
              </a:r>
              <a:endParaRPr b="1" i="0" sz="1500" u="none" cap="none" strike="noStrike">
                <a:solidFill>
                  <a:srgbClr val="1A998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1150" lvl="0" marL="457200" marR="0" rtl="0" algn="l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595959"/>
                </a:buClr>
                <a:buSzPts val="1300"/>
                <a:buFont typeface="Lato"/>
                <a:buChar char="●"/>
              </a:pPr>
              <a:r>
                <a:rPr b="1" i="0" lang="uk" sz="1300" u="none" cap="none" strike="noStrike">
                  <a:solidFill>
                    <a:srgbClr val="1A1A1A"/>
                  </a:solidFill>
                  <a:latin typeface="Lato"/>
                  <a:ea typeface="Lato"/>
                  <a:cs typeface="Lato"/>
                  <a:sym typeface="Lato"/>
                </a:rPr>
                <a:t>TypeScript</a:t>
              </a:r>
              <a:r>
                <a:rPr b="0" i="0" lang="uk" sz="1300" u="none" cap="none" strike="noStrike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 – єдина типізована мова клієнта й сервера.</a:t>
              </a:r>
              <a:endParaRPr b="0" i="0" sz="13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1150" lvl="0" marL="45720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595959"/>
                </a:buClr>
                <a:buSzPts val="1300"/>
                <a:buFont typeface="Lato"/>
                <a:buChar char="●"/>
              </a:pPr>
              <a:r>
                <a:rPr b="1" i="0" lang="uk" sz="1300" u="none" cap="none" strike="noStrike">
                  <a:solidFill>
                    <a:srgbClr val="1A1A1A"/>
                  </a:solidFill>
                  <a:latin typeface="Lato"/>
                  <a:ea typeface="Lato"/>
                  <a:cs typeface="Lato"/>
                  <a:sym typeface="Lato"/>
                </a:rPr>
                <a:t>Frontend:</a:t>
              </a:r>
              <a:r>
                <a:rPr b="0" i="0" lang="uk" sz="1300" u="none" cap="none" strike="noStrike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 React 19, Vite, React Router, TanStack Query, Zustand, Axios.</a:t>
              </a:r>
              <a:endParaRPr b="0" i="0" sz="13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1150" lvl="0" marL="45720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595959"/>
                </a:buClr>
                <a:buSzPts val="1300"/>
                <a:buFont typeface="Lato"/>
                <a:buChar char="●"/>
              </a:pPr>
              <a:r>
                <a:rPr b="1" i="0" lang="uk" sz="1300" u="none" cap="none" strike="noStrike">
                  <a:solidFill>
                    <a:srgbClr val="1A1A1A"/>
                  </a:solidFill>
                  <a:latin typeface="Lato"/>
                  <a:ea typeface="Lato"/>
                  <a:cs typeface="Lato"/>
                  <a:sym typeface="Lato"/>
                </a:rPr>
                <a:t>Backend:</a:t>
              </a:r>
              <a:r>
                <a:rPr b="0" i="0" lang="uk" sz="1300" u="none" cap="none" strike="noStrike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 Node.js, Express, Socket.IO.</a:t>
              </a:r>
              <a:endParaRPr b="0" i="0" sz="13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1150" lvl="0" marL="45720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595959"/>
                </a:buClr>
                <a:buSzPts val="1300"/>
                <a:buFont typeface="Lato"/>
                <a:buChar char="●"/>
              </a:pPr>
              <a:r>
                <a:rPr b="1" i="0" lang="uk" sz="1300" u="none" cap="none" strike="noStrike">
                  <a:solidFill>
                    <a:srgbClr val="1A1A1A"/>
                  </a:solidFill>
                  <a:latin typeface="Lato"/>
                  <a:ea typeface="Lato"/>
                  <a:cs typeface="Lato"/>
                  <a:sym typeface="Lato"/>
                </a:rPr>
                <a:t>Data:</a:t>
              </a:r>
              <a:r>
                <a:rPr b="0" i="0" lang="uk" sz="1300" u="none" cap="none" strike="noStrike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 PostgreSQL, Prisma ORM.</a:t>
              </a:r>
              <a:endParaRPr b="0" i="0" sz="13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1150" lvl="0" marL="45720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595959"/>
                </a:buClr>
                <a:buSzPts val="1300"/>
                <a:buFont typeface="Lato"/>
                <a:buChar char="●"/>
              </a:pPr>
              <a:r>
                <a:rPr b="1" i="0" lang="uk" sz="1300" u="none" cap="none" strike="noStrike">
                  <a:solidFill>
                    <a:srgbClr val="1A1A1A"/>
                  </a:solidFill>
                  <a:latin typeface="Lato"/>
                  <a:ea typeface="Lato"/>
                  <a:cs typeface="Lato"/>
                  <a:sym typeface="Lato"/>
                </a:rPr>
                <a:t>Security:</a:t>
              </a:r>
              <a:r>
                <a:rPr b="0" i="0" lang="uk" sz="1300" u="none" cap="none" strike="noStrike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 JWT, httpOnly cookie.</a:t>
              </a:r>
              <a:endParaRPr b="0" i="0" sz="13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1150" lvl="0" marL="45720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595959"/>
                </a:buClr>
                <a:buSzPts val="1300"/>
                <a:buFont typeface="Lato"/>
                <a:buChar char="●"/>
              </a:pPr>
              <a:r>
                <a:rPr b="1" i="0" lang="uk" sz="1300" u="none" cap="none" strike="noStrike">
                  <a:solidFill>
                    <a:srgbClr val="1A1A1A"/>
                  </a:solidFill>
                  <a:latin typeface="Lato"/>
                  <a:ea typeface="Lato"/>
                  <a:cs typeface="Lato"/>
                  <a:sym typeface="Lato"/>
                </a:rPr>
                <a:t>Tools:</a:t>
              </a:r>
              <a:r>
                <a:rPr b="0" i="0" lang="uk" sz="1300" u="none" cap="none" strike="noStrike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 VS Code, Git, GitHub, Swagger.</a:t>
              </a:r>
              <a:endParaRPr b="0" i="0" sz="13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256" name="Google Shape;256;p3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  <p:grpSp>
        <p:nvGrpSpPr>
          <p:cNvPr id="257" name="Google Shape;257;p32"/>
          <p:cNvGrpSpPr/>
          <p:nvPr/>
        </p:nvGrpSpPr>
        <p:grpSpPr>
          <a:xfrm>
            <a:off x="4857750" y="1381125"/>
            <a:ext cx="3562200" cy="3238500"/>
            <a:chOff x="4857750" y="1381125"/>
            <a:chExt cx="3562200" cy="3238500"/>
          </a:xfrm>
        </p:grpSpPr>
        <p:sp>
          <p:nvSpPr>
            <p:cNvPr id="258" name="Google Shape;258;p32"/>
            <p:cNvSpPr/>
            <p:nvPr/>
          </p:nvSpPr>
          <p:spPr>
            <a:xfrm>
              <a:off x="4857750" y="1381125"/>
              <a:ext cx="3562200" cy="3238500"/>
            </a:xfrm>
            <a:prstGeom prst="roundRect">
              <a:avLst>
                <a:gd fmla="val 3529" name="adj"/>
              </a:avLst>
            </a:prstGeom>
            <a:solidFill>
              <a:srgbClr val="F9FAF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59" name="Google Shape;259;p32"/>
            <p:cNvPicPr preferRelativeResize="0"/>
            <p:nvPr/>
          </p:nvPicPr>
          <p:blipFill rotWithShape="1">
            <a:blip r:embed="rId3">
              <a:alphaModFix/>
            </a:blip>
            <a:srcRect b="169" l="0" r="0" t="159"/>
            <a:stretch/>
          </p:blipFill>
          <p:spPr>
            <a:xfrm>
              <a:off x="4954800" y="2109338"/>
              <a:ext cx="3368100" cy="1734600"/>
            </a:xfrm>
            <a:prstGeom prst="roundRect">
              <a:avLst>
                <a:gd fmla="val 4651" name="adj"/>
              </a:avLst>
            </a:prstGeom>
            <a:noFill/>
            <a:ln>
              <a:noFill/>
            </a:ln>
          </p:spPr>
        </p:pic>
        <p:sp>
          <p:nvSpPr>
            <p:cNvPr id="260" name="Google Shape;260;p32"/>
            <p:cNvSpPr txBox="1"/>
            <p:nvPr/>
          </p:nvSpPr>
          <p:spPr>
            <a:xfrm>
              <a:off x="5048250" y="1524000"/>
              <a:ext cx="31812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uk" sz="1800" u="none" cap="none" strike="noStrike">
                  <a:solidFill>
                    <a:srgbClr val="EB5600"/>
                  </a:solidFill>
                  <a:latin typeface="Raleway"/>
                  <a:ea typeface="Raleway"/>
                  <a:cs typeface="Raleway"/>
                  <a:sym typeface="Raleway"/>
                </a:rPr>
                <a:t>PERN Stack Architecture</a:t>
              </a:r>
              <a:endParaRPr b="1" i="0" sz="1800" u="none" cap="none" strike="noStrike">
                <a:solidFill>
                  <a:srgbClr val="EB560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61" name="Google Shape;261;p32"/>
            <p:cNvSpPr txBox="1"/>
            <p:nvPr/>
          </p:nvSpPr>
          <p:spPr>
            <a:xfrm>
              <a:off x="5048250" y="3952875"/>
              <a:ext cx="3181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7" name="Google Shape;267;p33"/>
          <p:cNvGrpSpPr/>
          <p:nvPr/>
        </p:nvGrpSpPr>
        <p:grpSpPr>
          <a:xfrm>
            <a:off x="830394" y="1191277"/>
            <a:ext cx="745763" cy="45826"/>
            <a:chOff x="4580561" y="2589004"/>
            <a:chExt cx="1064464" cy="25200"/>
          </a:xfrm>
        </p:grpSpPr>
        <p:sp>
          <p:nvSpPr>
            <p:cNvPr id="268" name="Google Shape;268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0" name="Google Shape;270;p33"/>
          <p:cNvSpPr txBox="1"/>
          <p:nvPr>
            <p:ph type="title"/>
          </p:nvPr>
        </p:nvSpPr>
        <p:spPr>
          <a:xfrm>
            <a:off x="727650" y="571500"/>
            <a:ext cx="7688700" cy="535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1" lang="uk" sz="2800">
                <a:solidFill>
                  <a:srgbClr val="111827"/>
                </a:solidFill>
                <a:latin typeface="Raleway"/>
                <a:ea typeface="Raleway"/>
                <a:cs typeface="Raleway"/>
                <a:sym typeface="Raleway"/>
              </a:rPr>
              <a:t>Приклади фрагментів коду</a:t>
            </a:r>
            <a:endParaRPr b="1" sz="2800">
              <a:solidFill>
                <a:srgbClr val="111827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271" name="Google Shape;271;p33"/>
          <p:cNvGrpSpPr/>
          <p:nvPr/>
        </p:nvGrpSpPr>
        <p:grpSpPr>
          <a:xfrm>
            <a:off x="723900" y="1333500"/>
            <a:ext cx="3619500" cy="3238500"/>
            <a:chOff x="723900" y="1333500"/>
            <a:chExt cx="3619500" cy="3238500"/>
          </a:xfrm>
        </p:grpSpPr>
        <p:sp>
          <p:nvSpPr>
            <p:cNvPr id="272" name="Google Shape;272;p33"/>
            <p:cNvSpPr/>
            <p:nvPr/>
          </p:nvSpPr>
          <p:spPr>
            <a:xfrm>
              <a:off x="723900" y="1333500"/>
              <a:ext cx="3619500" cy="3238500"/>
            </a:xfrm>
            <a:prstGeom prst="roundRect">
              <a:avLst>
                <a:gd fmla="val 3529" name="adj"/>
              </a:avLst>
            </a:prstGeom>
            <a:solidFill>
              <a:srgbClr val="F9FAF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33"/>
            <p:cNvSpPr txBox="1"/>
            <p:nvPr/>
          </p:nvSpPr>
          <p:spPr>
            <a:xfrm>
              <a:off x="914400" y="1524000"/>
              <a:ext cx="32385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uk" sz="1500" u="none" cap="none" strike="noStrike">
                  <a:solidFill>
                    <a:srgbClr val="1A9988"/>
                  </a:solidFill>
                  <a:latin typeface="Lato"/>
                  <a:ea typeface="Lato"/>
                  <a:cs typeface="Lato"/>
                  <a:sym typeface="Lato"/>
                </a:rPr>
                <a:t>Приклади реалізації</a:t>
              </a:r>
              <a:endParaRPr b="1" i="0" sz="1500" u="none" cap="none" strike="noStrike">
                <a:solidFill>
                  <a:srgbClr val="1A998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uk" sz="1300" u="none" cap="none" strike="noStrike">
                  <a:solidFill>
                    <a:srgbClr val="111827"/>
                  </a:solidFill>
                  <a:latin typeface="Lato"/>
                  <a:ea typeface="Lato"/>
                  <a:cs typeface="Lato"/>
                  <a:sym typeface="Lato"/>
                </a:rPr>
                <a:t>Екранні форми для демонстрації:</a:t>
              </a:r>
              <a:endParaRPr b="1" i="0" sz="1300" u="none" cap="none" strike="noStrike">
                <a:solidFill>
                  <a:srgbClr val="111827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04800" lvl="0" marL="45720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4B5563"/>
                </a:buClr>
                <a:buSzPts val="1200"/>
                <a:buFont typeface="Lato"/>
                <a:buChar char="●"/>
              </a:pPr>
              <a:r>
                <a:rPr b="0" i="0" lang="uk" sz="1200" u="none" cap="none" strike="noStrike">
                  <a:solidFill>
                    <a:srgbClr val="4B5563"/>
                  </a:solidFill>
                  <a:latin typeface="Lato"/>
                  <a:ea typeface="Lato"/>
                  <a:cs typeface="Lato"/>
                  <a:sym typeface="Lato"/>
                </a:rPr>
                <a:t>форма входу користувача;</a:t>
              </a:r>
              <a:endParaRPr b="0" i="0" sz="120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04800" lvl="0" marL="457200" marR="0" rtl="0" algn="l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4B5563"/>
                </a:buClr>
                <a:buSzPts val="1200"/>
                <a:buFont typeface="Lato"/>
                <a:buChar char="●"/>
              </a:pPr>
              <a:r>
                <a:rPr b="0" i="0" lang="uk" sz="1200" u="none" cap="none" strike="noStrike">
                  <a:solidFill>
                    <a:srgbClr val="4B5563"/>
                  </a:solidFill>
                  <a:latin typeface="Lato"/>
                  <a:ea typeface="Lato"/>
                  <a:cs typeface="Lato"/>
                  <a:sym typeface="Lato"/>
                </a:rPr>
                <a:t>головна сторінка зі статистикою та досягненнями;</a:t>
              </a:r>
              <a:endParaRPr b="0" i="0" sz="120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04800" lvl="0" marL="457200" marR="0" rtl="0" algn="l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4B5563"/>
                </a:buClr>
                <a:buSzPts val="1200"/>
                <a:buFont typeface="Lato"/>
                <a:buChar char="●"/>
              </a:pPr>
              <a:r>
                <a:rPr b="0" i="0" lang="uk" sz="1200" u="none" cap="none" strike="noStrike">
                  <a:solidFill>
                    <a:srgbClr val="4B5563"/>
                  </a:solidFill>
                  <a:latin typeface="Lato"/>
                  <a:ea typeface="Lato"/>
                  <a:cs typeface="Lato"/>
                  <a:sym typeface="Lato"/>
                </a:rPr>
                <a:t>сторінка проходження вправи;</a:t>
              </a:r>
              <a:endParaRPr b="0" i="0" sz="120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04800" lvl="0" marL="457200" marR="0" rtl="0" algn="l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4B5563"/>
                </a:buClr>
                <a:buSzPts val="1200"/>
                <a:buFont typeface="Lato"/>
                <a:buChar char="●"/>
              </a:pPr>
              <a:r>
                <a:rPr b="0" i="0" lang="uk" sz="1200" u="none" cap="none" strike="noStrike">
                  <a:solidFill>
                    <a:srgbClr val="4B5563"/>
                  </a:solidFill>
                  <a:latin typeface="Lato"/>
                  <a:ea typeface="Lato"/>
                  <a:cs typeface="Lato"/>
                  <a:sym typeface="Lato"/>
                </a:rPr>
                <a:t>сторінка «Спільнота» з прямим чатом;</a:t>
              </a:r>
              <a:endParaRPr b="0" i="0" sz="120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274" name="Google Shape;274;p3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  <p:grpSp>
        <p:nvGrpSpPr>
          <p:cNvPr id="275" name="Google Shape;275;p33"/>
          <p:cNvGrpSpPr/>
          <p:nvPr/>
        </p:nvGrpSpPr>
        <p:grpSpPr>
          <a:xfrm>
            <a:off x="4533900" y="1047736"/>
            <a:ext cx="3886200" cy="3064079"/>
            <a:chOff x="4533900" y="1047750"/>
            <a:chExt cx="3886200" cy="3571604"/>
          </a:xfrm>
        </p:grpSpPr>
        <p:sp>
          <p:nvSpPr>
            <p:cNvPr id="276" name="Google Shape;276;p33"/>
            <p:cNvSpPr/>
            <p:nvPr/>
          </p:nvSpPr>
          <p:spPr>
            <a:xfrm>
              <a:off x="4533900" y="1380854"/>
              <a:ext cx="3886200" cy="3238500"/>
            </a:xfrm>
            <a:prstGeom prst="roundRect">
              <a:avLst>
                <a:gd fmla="val 3529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33"/>
            <p:cNvSpPr/>
            <p:nvPr/>
          </p:nvSpPr>
          <p:spPr>
            <a:xfrm>
              <a:off x="4533900" y="1380854"/>
              <a:ext cx="3886200" cy="285900"/>
            </a:xfrm>
            <a:prstGeom prst="roundRect">
              <a:avLst>
                <a:gd fmla="val 40000" name="adj"/>
              </a:avLst>
            </a:prstGeom>
            <a:solidFill>
              <a:srgbClr val="3341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33"/>
            <p:cNvSpPr/>
            <p:nvPr/>
          </p:nvSpPr>
          <p:spPr>
            <a:xfrm>
              <a:off x="4676775" y="1476104"/>
              <a:ext cx="95400" cy="954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33"/>
            <p:cNvSpPr/>
            <p:nvPr/>
          </p:nvSpPr>
          <p:spPr>
            <a:xfrm>
              <a:off x="4819650" y="1476104"/>
              <a:ext cx="95400" cy="954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33"/>
            <p:cNvSpPr/>
            <p:nvPr/>
          </p:nvSpPr>
          <p:spPr>
            <a:xfrm>
              <a:off x="4962525" y="1476104"/>
              <a:ext cx="95400" cy="95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33"/>
            <p:cNvSpPr txBox="1"/>
            <p:nvPr/>
          </p:nvSpPr>
          <p:spPr>
            <a:xfrm>
              <a:off x="4724400" y="1761854"/>
              <a:ext cx="35052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5"/>
                <a:buFont typeface="Arial"/>
                <a:buNone/>
              </a:pPr>
              <a:r>
                <a:rPr b="0" i="0" lang="uk" sz="935" u="none" cap="none" strike="noStrike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Фрагмент перевірки відповіді</a:t>
              </a:r>
              <a:endParaRPr b="0" i="0" sz="935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935"/>
                <a:buFont typeface="Arial"/>
                <a:buNone/>
              </a:pPr>
              <a:r>
                <a:rPr b="0" i="0" lang="uk" sz="935" u="none" cap="none" strike="noStrike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const</a:t>
              </a:r>
              <a:r>
                <a:rPr b="0" i="0" lang="uk" sz="935" u="none" cap="none" strike="noStrike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userFormattedAnswer = userAnswer.toLowerCase().trim();</a:t>
              </a:r>
              <a:endParaRPr b="0" i="0" sz="935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5"/>
                <a:buFont typeface="Arial"/>
                <a:buNone/>
              </a:pPr>
              <a:r>
                <a:rPr b="0" i="0" lang="uk" sz="935" u="none" cap="none" strike="noStrike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const</a:t>
              </a:r>
              <a:r>
                <a:rPr b="0" i="0" lang="uk" sz="935" u="none" cap="none" strike="noStrike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uk" sz="935" u="none" cap="none" strike="noStrike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correctAnswer</a:t>
              </a:r>
              <a:r>
                <a:rPr b="0" i="0" lang="uk" sz="935" u="none" cap="none" strike="noStrike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= exercise.correctAnswer.toLowerCase().trim();</a:t>
              </a:r>
              <a:endParaRPr b="0" i="0" sz="935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5"/>
                <a:buFont typeface="Arial"/>
                <a:buNone/>
              </a:pPr>
              <a:r>
                <a:rPr b="0" i="0" lang="uk" sz="935" u="none" cap="none" strike="noStrike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const</a:t>
              </a:r>
              <a:r>
                <a:rPr b="0" i="0" lang="uk" sz="935" u="none" cap="none" strike="noStrike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isCorrect = correctAnswer === userFormattedAnswer;</a:t>
              </a:r>
              <a:endParaRPr b="0" i="0" sz="935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5"/>
                <a:buFont typeface="Arial"/>
                <a:buNone/>
              </a:pPr>
              <a:r>
                <a:t/>
              </a:r>
              <a:endParaRPr b="0" i="0" sz="935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5"/>
                <a:buFont typeface="Arial"/>
                <a:buNone/>
              </a:pPr>
              <a:r>
                <a:rPr b="0" i="0" lang="uk" sz="935" u="none" cap="none" strike="noStrike">
                  <a:solidFill>
                    <a:srgbClr val="F472B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const</a:t>
              </a:r>
              <a:r>
                <a:rPr b="0" i="0" lang="uk" sz="935" u="none" cap="none" strike="noStrike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earnedPoints = isCorrect ? (exercise.points || </a:t>
              </a:r>
              <a:r>
                <a:rPr b="0" i="0" lang="uk" sz="935" u="none" cap="none" strike="noStrike">
                  <a:solidFill>
                    <a:srgbClr val="60A5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</a:t>
              </a:r>
              <a:r>
                <a:rPr b="0" i="0" lang="uk" sz="935" u="none" cap="none" strike="noStrike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 : </a:t>
              </a:r>
              <a:r>
                <a:rPr b="0" i="0" lang="uk" sz="935" u="none" cap="none" strike="noStrike">
                  <a:solidFill>
                    <a:srgbClr val="60A5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</a:t>
              </a:r>
              <a:r>
                <a:rPr b="0" i="0" lang="uk" sz="935" u="none" cap="none" strike="noStrike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b="0" i="0" sz="935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82" name="Google Shape;282;p33"/>
            <p:cNvSpPr txBox="1"/>
            <p:nvPr/>
          </p:nvSpPr>
          <p:spPr>
            <a:xfrm>
              <a:off x="4533900" y="1047750"/>
              <a:ext cx="3886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uk" sz="1300" u="none" cap="none" strike="noStrike">
                  <a:solidFill>
                    <a:srgbClr val="EB5600"/>
                  </a:solidFill>
                  <a:latin typeface="Lato"/>
                  <a:ea typeface="Lato"/>
                  <a:cs typeface="Lato"/>
                  <a:sym typeface="Lato"/>
                </a:rPr>
                <a:t>Фрагмент коду</a:t>
              </a:r>
              <a:endParaRPr b="1" i="0" sz="1300" u="none" cap="none" strike="noStrike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8" name="Google Shape;288;p34"/>
          <p:cNvGrpSpPr/>
          <p:nvPr/>
        </p:nvGrpSpPr>
        <p:grpSpPr>
          <a:xfrm>
            <a:off x="830394" y="1191277"/>
            <a:ext cx="745763" cy="45826"/>
            <a:chOff x="4580561" y="2589004"/>
            <a:chExt cx="1064464" cy="25200"/>
          </a:xfrm>
        </p:grpSpPr>
        <p:sp>
          <p:nvSpPr>
            <p:cNvPr id="289" name="Google Shape;289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1" name="Google Shape;291;p34"/>
          <p:cNvSpPr txBox="1"/>
          <p:nvPr>
            <p:ph type="title"/>
          </p:nvPr>
        </p:nvSpPr>
        <p:spPr>
          <a:xfrm>
            <a:off x="727650" y="603850"/>
            <a:ext cx="7688700" cy="535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5250" lIns="95250" spcFirstLastPara="1" rIns="95250" wrap="square" tIns="952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uk" sz="2170">
                <a:solidFill>
                  <a:srgbClr val="0F172A"/>
                </a:solidFill>
                <a:latin typeface="Raleway"/>
                <a:ea typeface="Raleway"/>
                <a:cs typeface="Raleway"/>
                <a:sym typeface="Raleway"/>
              </a:rPr>
              <a:t>Інтерфейс користувача</a:t>
            </a:r>
            <a:endParaRPr b="1" sz="2170">
              <a:solidFill>
                <a:srgbClr val="0F172A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92" name="Google Shape;292;p3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  <p:grpSp>
        <p:nvGrpSpPr>
          <p:cNvPr id="293" name="Google Shape;293;p34"/>
          <p:cNvGrpSpPr/>
          <p:nvPr/>
        </p:nvGrpSpPr>
        <p:grpSpPr>
          <a:xfrm>
            <a:off x="727650" y="1455372"/>
            <a:ext cx="2578500" cy="3039600"/>
            <a:chOff x="727650" y="1455372"/>
            <a:chExt cx="2578500" cy="3039600"/>
          </a:xfrm>
        </p:grpSpPr>
        <p:sp>
          <p:nvSpPr>
            <p:cNvPr id="294" name="Google Shape;294;p34"/>
            <p:cNvSpPr/>
            <p:nvPr/>
          </p:nvSpPr>
          <p:spPr>
            <a:xfrm>
              <a:off x="727650" y="1455372"/>
              <a:ext cx="2578500" cy="3039600"/>
            </a:xfrm>
            <a:prstGeom prst="roundRect">
              <a:avLst>
                <a:gd fmla="val 44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5" name="Google Shape;295;p34"/>
            <p:cNvPicPr preferRelativeResize="0"/>
            <p:nvPr/>
          </p:nvPicPr>
          <p:blipFill rotWithShape="1">
            <a:blip r:embed="rId4">
              <a:alphaModFix/>
            </a:blip>
            <a:srcRect b="-3340" l="3990" r="-3990" t="3340"/>
            <a:stretch/>
          </p:blipFill>
          <p:spPr>
            <a:xfrm>
              <a:off x="918150" y="1645872"/>
              <a:ext cx="2388000" cy="2849100"/>
            </a:xfrm>
            <a:prstGeom prst="roundRect">
              <a:avLst>
                <a:gd fmla="val 3191" name="adj"/>
              </a:avLst>
            </a:prstGeom>
            <a:noFill/>
            <a:ln>
              <a:noFill/>
            </a:ln>
          </p:spPr>
        </p:pic>
      </p:grpSp>
      <p:grpSp>
        <p:nvGrpSpPr>
          <p:cNvPr id="296" name="Google Shape;296;p34"/>
          <p:cNvGrpSpPr/>
          <p:nvPr/>
        </p:nvGrpSpPr>
        <p:grpSpPr>
          <a:xfrm>
            <a:off x="3497628" y="1455372"/>
            <a:ext cx="5156700" cy="3039600"/>
            <a:chOff x="3497628" y="1455372"/>
            <a:chExt cx="5156700" cy="3039600"/>
          </a:xfrm>
        </p:grpSpPr>
        <p:sp>
          <p:nvSpPr>
            <p:cNvPr id="297" name="Google Shape;297;p34"/>
            <p:cNvSpPr/>
            <p:nvPr/>
          </p:nvSpPr>
          <p:spPr>
            <a:xfrm>
              <a:off x="3497628" y="1455372"/>
              <a:ext cx="5156700" cy="3039600"/>
            </a:xfrm>
            <a:prstGeom prst="roundRect">
              <a:avLst>
                <a:gd fmla="val 376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8" name="Google Shape;298;p34"/>
            <p:cNvPicPr preferRelativeResize="0"/>
            <p:nvPr/>
          </p:nvPicPr>
          <p:blipFill rotWithShape="1">
            <a:blip r:embed="rId5">
              <a:alphaModFix/>
            </a:blip>
            <a:srcRect b="7110" l="-1140" r="1140" t="-7110"/>
            <a:stretch/>
          </p:blipFill>
          <p:spPr>
            <a:xfrm>
              <a:off x="3592775" y="1550700"/>
              <a:ext cx="4767600" cy="2735100"/>
            </a:xfrm>
            <a:prstGeom prst="roundRect">
              <a:avLst>
                <a:gd fmla="val 2674" name="adj"/>
              </a:avLst>
            </a:prstGeom>
            <a:noFill/>
            <a:ln>
              <a:noFill/>
            </a:ln>
          </p:spPr>
        </p:pic>
      </p:grpSp>
      <p:grpSp>
        <p:nvGrpSpPr>
          <p:cNvPr id="299" name="Google Shape;299;p34"/>
          <p:cNvGrpSpPr/>
          <p:nvPr/>
        </p:nvGrpSpPr>
        <p:grpSpPr>
          <a:xfrm>
            <a:off x="727650" y="4494876"/>
            <a:ext cx="7926678" cy="285900"/>
            <a:chOff x="727650" y="4494876"/>
            <a:chExt cx="7926678" cy="285900"/>
          </a:xfrm>
        </p:grpSpPr>
        <p:sp>
          <p:nvSpPr>
            <p:cNvPr id="300" name="Google Shape;300;p34"/>
            <p:cNvSpPr txBox="1"/>
            <p:nvPr/>
          </p:nvSpPr>
          <p:spPr>
            <a:xfrm>
              <a:off x="727650" y="4494876"/>
              <a:ext cx="2578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uk" sz="1100" u="none" cap="none" strike="noStrike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Авторизація</a:t>
              </a:r>
              <a:endParaRPr b="1" i="0" sz="11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01" name="Google Shape;301;p34"/>
            <p:cNvSpPr txBox="1"/>
            <p:nvPr/>
          </p:nvSpPr>
          <p:spPr>
            <a:xfrm>
              <a:off x="3497628" y="4494876"/>
              <a:ext cx="51567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uk" sz="1100" u="none" cap="none" strike="noStrike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Панель керування</a:t>
              </a:r>
              <a:endParaRPr b="1" i="0" sz="11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7" name="Google Shape;307;p35"/>
          <p:cNvGrpSpPr/>
          <p:nvPr/>
        </p:nvGrpSpPr>
        <p:grpSpPr>
          <a:xfrm>
            <a:off x="830394" y="1191277"/>
            <a:ext cx="745763" cy="45826"/>
            <a:chOff x="4580561" y="2589004"/>
            <a:chExt cx="1064464" cy="25200"/>
          </a:xfrm>
        </p:grpSpPr>
        <p:sp>
          <p:nvSpPr>
            <p:cNvPr id="308" name="Google Shape;308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0" name="Google Shape;310;p35"/>
          <p:cNvSpPr txBox="1"/>
          <p:nvPr>
            <p:ph type="title"/>
          </p:nvPr>
        </p:nvSpPr>
        <p:spPr>
          <a:xfrm>
            <a:off x="727800" y="596075"/>
            <a:ext cx="7688400" cy="535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uk" sz="2400">
                <a:solidFill>
                  <a:srgbClr val="0F172A"/>
                </a:solidFill>
                <a:latin typeface="Raleway"/>
                <a:ea typeface="Raleway"/>
                <a:cs typeface="Raleway"/>
                <a:sym typeface="Raleway"/>
              </a:rPr>
              <a:t>Інтерфейс користувача</a:t>
            </a:r>
            <a:endParaRPr b="1" i="0" sz="2400">
              <a:solidFill>
                <a:srgbClr val="0F172A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11" name="Google Shape;311;p3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uk" sz="1400"/>
              <a:t>‹#›</a:t>
            </a:fld>
            <a:endParaRPr sz="1400"/>
          </a:p>
        </p:txBody>
      </p:sp>
      <p:grpSp>
        <p:nvGrpSpPr>
          <p:cNvPr id="312" name="Google Shape;312;p35"/>
          <p:cNvGrpSpPr/>
          <p:nvPr/>
        </p:nvGrpSpPr>
        <p:grpSpPr>
          <a:xfrm>
            <a:off x="723900" y="1447800"/>
            <a:ext cx="4419600" cy="3429150"/>
            <a:chOff x="723900" y="1447800"/>
            <a:chExt cx="4419600" cy="3429150"/>
          </a:xfrm>
        </p:grpSpPr>
        <p:sp>
          <p:nvSpPr>
            <p:cNvPr id="313" name="Google Shape;313;p35"/>
            <p:cNvSpPr/>
            <p:nvPr/>
          </p:nvSpPr>
          <p:spPr>
            <a:xfrm>
              <a:off x="723900" y="1447800"/>
              <a:ext cx="4419600" cy="3048000"/>
            </a:xfrm>
            <a:prstGeom prst="roundRect">
              <a:avLst>
                <a:gd fmla="val 375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14" name="Google Shape;314;p35"/>
            <p:cNvPicPr preferRelativeResize="0"/>
            <p:nvPr/>
          </p:nvPicPr>
          <p:blipFill rotWithShape="1">
            <a:blip r:embed="rId4">
              <a:alphaModFix/>
            </a:blip>
            <a:srcRect b="269" l="0" r="0" t="269"/>
            <a:stretch/>
          </p:blipFill>
          <p:spPr>
            <a:xfrm>
              <a:off x="819150" y="1543050"/>
              <a:ext cx="4229100" cy="2552700"/>
            </a:xfrm>
            <a:prstGeom prst="roundRect">
              <a:avLst>
                <a:gd fmla="val 2985" name="adj"/>
              </a:avLst>
            </a:prstGeom>
            <a:noFill/>
            <a:ln>
              <a:noFill/>
            </a:ln>
          </p:spPr>
        </p:pic>
        <p:sp>
          <p:nvSpPr>
            <p:cNvPr id="315" name="Google Shape;315;p35"/>
            <p:cNvSpPr txBox="1"/>
            <p:nvPr/>
          </p:nvSpPr>
          <p:spPr>
            <a:xfrm>
              <a:off x="723900" y="4591050"/>
              <a:ext cx="44196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uk" sz="1100" u="none" cap="none" strike="noStrike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Інтерфейс проходження вправ</a:t>
              </a:r>
              <a:endParaRPr b="1" i="0" sz="11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16" name="Google Shape;316;p35"/>
          <p:cNvGrpSpPr/>
          <p:nvPr/>
        </p:nvGrpSpPr>
        <p:grpSpPr>
          <a:xfrm>
            <a:off x="5334000" y="1447800"/>
            <a:ext cx="3528900" cy="3429150"/>
            <a:chOff x="5334000" y="1447800"/>
            <a:chExt cx="3528900" cy="3429150"/>
          </a:xfrm>
        </p:grpSpPr>
        <p:sp>
          <p:nvSpPr>
            <p:cNvPr id="317" name="Google Shape;317;p35"/>
            <p:cNvSpPr/>
            <p:nvPr/>
          </p:nvSpPr>
          <p:spPr>
            <a:xfrm>
              <a:off x="5334000" y="1447800"/>
              <a:ext cx="3528900" cy="3048000"/>
            </a:xfrm>
            <a:prstGeom prst="roundRect">
              <a:avLst>
                <a:gd fmla="val 375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18" name="Google Shape;318;p35"/>
            <p:cNvPicPr preferRelativeResize="0"/>
            <p:nvPr/>
          </p:nvPicPr>
          <p:blipFill rotWithShape="1">
            <a:blip r:embed="rId5">
              <a:alphaModFix/>
            </a:blip>
            <a:srcRect b="0" l="17698" r="742" t="0"/>
            <a:stretch/>
          </p:blipFill>
          <p:spPr>
            <a:xfrm>
              <a:off x="5434800" y="1594513"/>
              <a:ext cx="3327300" cy="2323500"/>
            </a:xfrm>
            <a:prstGeom prst="roundRect">
              <a:avLst>
                <a:gd fmla="val 2985" name="adj"/>
              </a:avLst>
            </a:prstGeom>
            <a:noFill/>
            <a:ln>
              <a:noFill/>
            </a:ln>
          </p:spPr>
        </p:pic>
        <p:sp>
          <p:nvSpPr>
            <p:cNvPr id="319" name="Google Shape;319;p35"/>
            <p:cNvSpPr txBox="1"/>
            <p:nvPr/>
          </p:nvSpPr>
          <p:spPr>
            <a:xfrm>
              <a:off x="5334000" y="4591050"/>
              <a:ext cx="3086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uk" sz="1100" u="none" cap="none" strike="noStrike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Профіль користувача та статистика</a:t>
              </a:r>
              <a:endParaRPr b="1" i="0" sz="11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5" name="Google Shape;325;p36"/>
          <p:cNvGrpSpPr/>
          <p:nvPr/>
        </p:nvGrpSpPr>
        <p:grpSpPr>
          <a:xfrm>
            <a:off x="830394" y="1191277"/>
            <a:ext cx="745763" cy="45826"/>
            <a:chOff x="4580561" y="2589004"/>
            <a:chExt cx="1064464" cy="25200"/>
          </a:xfrm>
        </p:grpSpPr>
        <p:sp>
          <p:nvSpPr>
            <p:cNvPr id="326" name="Google Shape;326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8" name="Google Shape;328;p36"/>
          <p:cNvSpPr txBox="1"/>
          <p:nvPr>
            <p:ph type="title"/>
          </p:nvPr>
        </p:nvSpPr>
        <p:spPr>
          <a:xfrm>
            <a:off x="727650" y="571500"/>
            <a:ext cx="7688700" cy="535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1" lang="uk" sz="2800">
                <a:solidFill>
                  <a:srgbClr val="0F172A"/>
                </a:solidFill>
                <a:latin typeface="Raleway"/>
                <a:ea typeface="Raleway"/>
                <a:cs typeface="Raleway"/>
                <a:sym typeface="Raleway"/>
              </a:rPr>
              <a:t>Аналіз результатів</a:t>
            </a:r>
            <a:endParaRPr b="1" sz="2800">
              <a:solidFill>
                <a:srgbClr val="0F172A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329" name="Google Shape;329;p36"/>
          <p:cNvGrpSpPr/>
          <p:nvPr/>
        </p:nvGrpSpPr>
        <p:grpSpPr>
          <a:xfrm>
            <a:off x="723900" y="1333500"/>
            <a:ext cx="7696200" cy="3429000"/>
            <a:chOff x="723900" y="1333500"/>
            <a:chExt cx="7696200" cy="3429000"/>
          </a:xfrm>
        </p:grpSpPr>
        <p:grpSp>
          <p:nvGrpSpPr>
            <p:cNvPr id="330" name="Google Shape;330;p36"/>
            <p:cNvGrpSpPr/>
            <p:nvPr/>
          </p:nvGrpSpPr>
          <p:grpSpPr>
            <a:xfrm>
              <a:off x="723900" y="1333500"/>
              <a:ext cx="3762300" cy="1476300"/>
              <a:chOff x="723900" y="1333500"/>
              <a:chExt cx="3762300" cy="1476300"/>
            </a:xfrm>
          </p:grpSpPr>
          <p:sp>
            <p:nvSpPr>
              <p:cNvPr id="331" name="Google Shape;331;p36"/>
              <p:cNvSpPr/>
              <p:nvPr/>
            </p:nvSpPr>
            <p:spPr>
              <a:xfrm>
                <a:off x="723900" y="1333500"/>
                <a:ext cx="3762300" cy="1476300"/>
              </a:xfrm>
              <a:prstGeom prst="roundRect">
                <a:avLst>
                  <a:gd fmla="val 774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36"/>
              <p:cNvSpPr txBox="1"/>
              <p:nvPr/>
            </p:nvSpPr>
            <p:spPr>
              <a:xfrm>
                <a:off x="914400" y="1476375"/>
                <a:ext cx="3381300" cy="11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uk" sz="1400" u="none" cap="none" strike="noStrike">
                    <a:solidFill>
                      <a:srgbClr val="1A9988"/>
                    </a:solidFill>
                    <a:latin typeface="Lato"/>
                    <a:ea typeface="Lato"/>
                    <a:cs typeface="Lato"/>
                    <a:sym typeface="Lato"/>
                  </a:rPr>
                  <a:t>Функціональний цикл</a:t>
                </a:r>
                <a:endParaRPr b="1" i="0" sz="1400" u="none" cap="none" strike="noStrike">
                  <a:solidFill>
                    <a:srgbClr val="1A9988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uk" sz="1100" u="none" cap="none" strike="noStrike">
                    <a:solidFill>
                      <a:srgbClr val="475569"/>
                    </a:solidFill>
                    <a:latin typeface="Lato"/>
                    <a:ea typeface="Lato"/>
                    <a:cs typeface="Lato"/>
                    <a:sym typeface="Lato"/>
                  </a:rPr>
                  <a:t>Реалізовано повний цикл роботи користувача: реєстрація → навчання → прогрес → статистика.</a:t>
                </a:r>
                <a:endParaRPr b="0" i="0" sz="1100" u="none" cap="none" strike="noStrike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33" name="Google Shape;333;p36"/>
            <p:cNvGrpSpPr/>
            <p:nvPr/>
          </p:nvGrpSpPr>
          <p:grpSpPr>
            <a:xfrm>
              <a:off x="4657725" y="1333500"/>
              <a:ext cx="3762300" cy="1476300"/>
              <a:chOff x="4657725" y="1333500"/>
              <a:chExt cx="3762300" cy="1476300"/>
            </a:xfrm>
          </p:grpSpPr>
          <p:sp>
            <p:nvSpPr>
              <p:cNvPr id="334" name="Google Shape;334;p36"/>
              <p:cNvSpPr/>
              <p:nvPr/>
            </p:nvSpPr>
            <p:spPr>
              <a:xfrm>
                <a:off x="4657725" y="1333500"/>
                <a:ext cx="3762300" cy="1476300"/>
              </a:xfrm>
              <a:prstGeom prst="roundRect">
                <a:avLst>
                  <a:gd fmla="val 774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" name="Google Shape;335;p36"/>
              <p:cNvSpPr txBox="1"/>
              <p:nvPr/>
            </p:nvSpPr>
            <p:spPr>
              <a:xfrm>
                <a:off x="4848225" y="1476375"/>
                <a:ext cx="3381300" cy="11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uk" sz="1400" u="none" cap="none" strike="noStrike">
                    <a:solidFill>
                      <a:srgbClr val="1A9988"/>
                    </a:solidFill>
                    <a:latin typeface="Lato"/>
                    <a:ea typeface="Lato"/>
                    <a:cs typeface="Lato"/>
                    <a:sym typeface="Lato"/>
                  </a:rPr>
                  <a:t>Гейміфікація та Взаємодія</a:t>
                </a:r>
                <a:endParaRPr b="1" i="0" sz="1400" u="none" cap="none" strike="noStrike">
                  <a:solidFill>
                    <a:srgbClr val="1A9988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uk" sz="1050" u="none" cap="none" strike="noStrike">
                    <a:solidFill>
                      <a:srgbClr val="475569"/>
                    </a:solidFill>
                    <a:latin typeface="Lato"/>
                    <a:ea typeface="Lato"/>
                    <a:cs typeface="Lato"/>
                    <a:sym typeface="Lato"/>
                  </a:rPr>
                  <a:t>• Бали, </a:t>
                </a:r>
                <a:r>
                  <a:rPr lang="uk" sz="1050">
                    <a:solidFill>
                      <a:srgbClr val="475569"/>
                    </a:solidFill>
                    <a:latin typeface="Lato"/>
                    <a:ea typeface="Lato"/>
                    <a:cs typeface="Lato"/>
                    <a:sym typeface="Lato"/>
                  </a:rPr>
                  <a:t>стрік</a:t>
                </a:r>
                <a:r>
                  <a:rPr b="0" i="0" lang="uk" sz="1050" u="none" cap="none" strike="noStrike">
                    <a:solidFill>
                      <a:srgbClr val="475569"/>
                    </a:solidFill>
                    <a:latin typeface="Lato"/>
                    <a:ea typeface="Lato"/>
                    <a:cs typeface="Lato"/>
                    <a:sym typeface="Lato"/>
                  </a:rPr>
                  <a:t>, досягнення, рейтинг.</a:t>
                </a:r>
                <a:endParaRPr b="0" i="0" sz="1050" u="none" cap="none" strike="noStrike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45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uk" sz="1050" u="none" cap="none" strike="noStrike">
                    <a:solidFill>
                      <a:srgbClr val="475569"/>
                    </a:solidFill>
                    <a:latin typeface="Lato"/>
                    <a:ea typeface="Lato"/>
                    <a:cs typeface="Lato"/>
                    <a:sym typeface="Lato"/>
                  </a:rPr>
                  <a:t>• Прямі чати з доставкою в реальному часі.</a:t>
                </a:r>
                <a:endParaRPr b="0" i="0" sz="1050" u="none" cap="none" strike="noStrike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36" name="Google Shape;336;p36"/>
            <p:cNvGrpSpPr/>
            <p:nvPr/>
          </p:nvGrpSpPr>
          <p:grpSpPr>
            <a:xfrm>
              <a:off x="723900" y="2952750"/>
              <a:ext cx="3762300" cy="1095300"/>
              <a:chOff x="723900" y="2952750"/>
              <a:chExt cx="3762300" cy="1095300"/>
            </a:xfrm>
          </p:grpSpPr>
          <p:sp>
            <p:nvSpPr>
              <p:cNvPr id="337" name="Google Shape;337;p36"/>
              <p:cNvSpPr/>
              <p:nvPr/>
            </p:nvSpPr>
            <p:spPr>
              <a:xfrm>
                <a:off x="723900" y="2952750"/>
                <a:ext cx="3762300" cy="1095300"/>
              </a:xfrm>
              <a:prstGeom prst="roundRect">
                <a:avLst>
                  <a:gd fmla="val 10434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8" name="Google Shape;338;p36"/>
              <p:cNvSpPr txBox="1"/>
              <p:nvPr/>
            </p:nvSpPr>
            <p:spPr>
              <a:xfrm>
                <a:off x="914400" y="3095625"/>
                <a:ext cx="33813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b="1" i="0" lang="uk" sz="1300" u="none" cap="none" strike="noStrike">
                    <a:solidFill>
                      <a:srgbClr val="EB5600"/>
                    </a:solidFill>
                    <a:latin typeface="Lato"/>
                    <a:ea typeface="Lato"/>
                    <a:cs typeface="Lato"/>
                    <a:sym typeface="Lato"/>
                  </a:rPr>
                  <a:t>Безпека та Управління</a:t>
                </a:r>
                <a:endParaRPr b="1" i="0" sz="1300" u="none" cap="none" strike="noStrike">
                  <a:solidFill>
                    <a:srgbClr val="EB5600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45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uk" sz="1050" u="none" cap="none" strike="noStrike">
                    <a:solidFill>
                      <a:srgbClr val="475569"/>
                    </a:solidFill>
                    <a:latin typeface="Lato"/>
                    <a:ea typeface="Lato"/>
                    <a:cs typeface="Lato"/>
                    <a:sym typeface="Lato"/>
                  </a:rPr>
                  <a:t>Приватність, модерація, керування ролями та експортом даних.</a:t>
                </a:r>
                <a:endParaRPr b="0" i="0" sz="1050" u="none" cap="none" strike="noStrike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39" name="Google Shape;339;p36"/>
            <p:cNvGrpSpPr/>
            <p:nvPr/>
          </p:nvGrpSpPr>
          <p:grpSpPr>
            <a:xfrm>
              <a:off x="4657725" y="2952750"/>
              <a:ext cx="3762300" cy="1095300"/>
              <a:chOff x="4657725" y="2952750"/>
              <a:chExt cx="3762300" cy="1095300"/>
            </a:xfrm>
          </p:grpSpPr>
          <p:sp>
            <p:nvSpPr>
              <p:cNvPr id="340" name="Google Shape;340;p36"/>
              <p:cNvSpPr/>
              <p:nvPr/>
            </p:nvSpPr>
            <p:spPr>
              <a:xfrm>
                <a:off x="4657725" y="2952750"/>
                <a:ext cx="3762300" cy="1095300"/>
              </a:xfrm>
              <a:prstGeom prst="roundRect">
                <a:avLst>
                  <a:gd fmla="val 10434" name="adj"/>
                </a:avLst>
              </a:prstGeom>
              <a:solidFill>
                <a:srgbClr val="F1F5F9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" name="Google Shape;341;p36"/>
              <p:cNvSpPr txBox="1"/>
              <p:nvPr/>
            </p:nvSpPr>
            <p:spPr>
              <a:xfrm>
                <a:off x="4848225" y="3095625"/>
                <a:ext cx="33813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b="1" i="0" lang="uk" sz="1300" u="none" cap="none" strike="noStrike">
                    <a:solidFill>
                      <a:srgbClr val="1E293B"/>
                    </a:solidFill>
                    <a:latin typeface="Lato"/>
                    <a:ea typeface="Lato"/>
                    <a:cs typeface="Lato"/>
                    <a:sym typeface="Lato"/>
                  </a:rPr>
                  <a:t>Статус тестування</a:t>
                </a:r>
                <a:endParaRPr b="1" i="0" sz="1300" u="none" cap="none" strike="noStrike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45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1" i="0" lang="uk" sz="1100" u="none" cap="none" strike="noStrike">
                    <a:solidFill>
                      <a:srgbClr val="059669"/>
                    </a:solidFill>
                    <a:latin typeface="Lato"/>
                    <a:ea typeface="Lato"/>
                    <a:cs typeface="Lato"/>
                    <a:sym typeface="Lato"/>
                  </a:rPr>
                  <a:t>✓ Основні сценарії пройдено успішно</a:t>
                </a:r>
                <a:endParaRPr b="1" i="0" sz="1100" u="none" cap="none" strike="noStrike">
                  <a:solidFill>
                    <a:srgbClr val="059669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42" name="Google Shape;342;p36"/>
            <p:cNvGrpSpPr/>
            <p:nvPr/>
          </p:nvGrpSpPr>
          <p:grpSpPr>
            <a:xfrm>
              <a:off x="723900" y="4191000"/>
              <a:ext cx="7696200" cy="571500"/>
              <a:chOff x="723900" y="4191000"/>
              <a:chExt cx="7696200" cy="571500"/>
            </a:xfrm>
          </p:grpSpPr>
          <p:sp>
            <p:nvSpPr>
              <p:cNvPr id="343" name="Google Shape;343;p36"/>
              <p:cNvSpPr/>
              <p:nvPr/>
            </p:nvSpPr>
            <p:spPr>
              <a:xfrm>
                <a:off x="723900" y="4191000"/>
                <a:ext cx="7696200" cy="571500"/>
              </a:xfrm>
              <a:prstGeom prst="roundRect">
                <a:avLst>
                  <a:gd fmla="val 13333" name="adj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4" name="Google Shape;344;p36"/>
              <p:cNvSpPr txBox="1"/>
              <p:nvPr/>
            </p:nvSpPr>
            <p:spPr>
              <a:xfrm>
                <a:off x="914400" y="4191000"/>
                <a:ext cx="73152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1" i="0" lang="uk" sz="1100" u="none" cap="none" strike="noStrike">
                    <a:solidFill>
                      <a:srgbClr val="60A5FA"/>
                    </a:solidFill>
                    <a:latin typeface="Lato"/>
                    <a:ea typeface="Lato"/>
                    <a:cs typeface="Lato"/>
                    <a:sym typeface="Lato"/>
                  </a:rPr>
                  <a:t>Подальший розвиток:</a:t>
                </a:r>
                <a:r>
                  <a:rPr b="0" i="0" lang="uk" sz="1100" u="none" cap="none" strike="noStrike">
                    <a:solidFill>
                      <a:srgbClr val="E2E8F0"/>
                    </a:solidFill>
                    <a:latin typeface="Lato"/>
                    <a:ea typeface="Lato"/>
                    <a:cs typeface="Lato"/>
                    <a:sym typeface="Lato"/>
                  </a:rPr>
                  <a:t> AI-співрозмовник, групові чати, гнучкіша перевірка, автотести.</a:t>
                </a:r>
                <a:endParaRPr b="0" i="0" sz="1100" u="none" cap="none" strike="noStrike">
                  <a:solidFill>
                    <a:srgbClr val="E2E8F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345" name="Google Shape;345;p3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1" name="Google Shape;351;p37"/>
          <p:cNvGrpSpPr/>
          <p:nvPr/>
        </p:nvGrpSpPr>
        <p:grpSpPr>
          <a:xfrm>
            <a:off x="830394" y="1191277"/>
            <a:ext cx="745763" cy="45826"/>
            <a:chOff x="4580561" y="2589004"/>
            <a:chExt cx="1064464" cy="25200"/>
          </a:xfrm>
        </p:grpSpPr>
        <p:sp>
          <p:nvSpPr>
            <p:cNvPr id="352" name="Google Shape;352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4" name="Google Shape;354;p37"/>
          <p:cNvSpPr txBox="1"/>
          <p:nvPr>
            <p:ph type="title"/>
          </p:nvPr>
        </p:nvSpPr>
        <p:spPr>
          <a:xfrm>
            <a:off x="727650" y="523875"/>
            <a:ext cx="7688700" cy="535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9525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1" lang="uk" sz="3200">
                <a:solidFill>
                  <a:srgbClr val="111827"/>
                </a:solidFill>
                <a:latin typeface="Raleway"/>
                <a:ea typeface="Raleway"/>
                <a:cs typeface="Raleway"/>
                <a:sym typeface="Raleway"/>
              </a:rPr>
              <a:t>Висновки</a:t>
            </a:r>
            <a:endParaRPr b="1" sz="3200">
              <a:solidFill>
                <a:srgbClr val="111827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355" name="Google Shape;355;p37"/>
          <p:cNvGrpSpPr/>
          <p:nvPr/>
        </p:nvGrpSpPr>
        <p:grpSpPr>
          <a:xfrm>
            <a:off x="723900" y="1333500"/>
            <a:ext cx="7696200" cy="2991000"/>
            <a:chOff x="723900" y="1333500"/>
            <a:chExt cx="7696200" cy="2991000"/>
          </a:xfrm>
        </p:grpSpPr>
        <p:grpSp>
          <p:nvGrpSpPr>
            <p:cNvPr id="356" name="Google Shape;356;p37"/>
            <p:cNvGrpSpPr/>
            <p:nvPr/>
          </p:nvGrpSpPr>
          <p:grpSpPr>
            <a:xfrm>
              <a:off x="723900" y="1333500"/>
              <a:ext cx="2476500" cy="1428900"/>
              <a:chOff x="723900" y="1333500"/>
              <a:chExt cx="2476500" cy="1428900"/>
            </a:xfrm>
          </p:grpSpPr>
          <p:sp>
            <p:nvSpPr>
              <p:cNvPr id="357" name="Google Shape;357;p37"/>
              <p:cNvSpPr/>
              <p:nvPr/>
            </p:nvSpPr>
            <p:spPr>
              <a:xfrm>
                <a:off x="723900" y="1333500"/>
                <a:ext cx="2476500" cy="1428900"/>
              </a:xfrm>
              <a:prstGeom prst="roundRect">
                <a:avLst>
                  <a:gd fmla="val 8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37"/>
              <p:cNvSpPr txBox="1"/>
              <p:nvPr/>
            </p:nvSpPr>
            <p:spPr>
              <a:xfrm>
                <a:off x="819150" y="1428750"/>
                <a:ext cx="2286000" cy="123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b="1" i="0" lang="uk" sz="1300" u="none" cap="none" strike="noStrike">
                    <a:solidFill>
                      <a:srgbClr val="1A9988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Розробка системи</a:t>
                </a:r>
                <a:endParaRPr b="1" i="0" sz="1300" u="none" cap="none" strike="noStrike">
                  <a:solidFill>
                    <a:srgbClr val="1A9988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b="0" i="0" lang="uk" sz="1300" u="none" cap="none" strike="noStrike">
                    <a:solidFill>
                      <a:srgbClr val="475569"/>
                    </a:solidFill>
                    <a:latin typeface="Lato"/>
                    <a:ea typeface="Lato"/>
                    <a:cs typeface="Lato"/>
                    <a:sym typeface="Lato"/>
                  </a:rPr>
                  <a:t>Спроєктовано та реалізовано вебсистему </a:t>
                </a:r>
                <a:r>
                  <a:rPr b="1" i="0" lang="uk" sz="1300" u="none" cap="none" strike="noStrike">
                    <a:solidFill>
                      <a:srgbClr val="475569"/>
                    </a:solidFill>
                    <a:latin typeface="Lato"/>
                    <a:ea typeface="Lato"/>
                    <a:cs typeface="Lato"/>
                    <a:sym typeface="Lato"/>
                  </a:rPr>
                  <a:t>LangBang</a:t>
                </a:r>
                <a:r>
                  <a:rPr b="0" i="0" lang="uk" sz="1300" u="none" cap="none" strike="noStrike">
                    <a:solidFill>
                      <a:srgbClr val="475569"/>
                    </a:solidFill>
                    <a:latin typeface="Lato"/>
                    <a:ea typeface="Lato"/>
                    <a:cs typeface="Lato"/>
                    <a:sym typeface="Lato"/>
                  </a:rPr>
                  <a:t> для вивчення іноземних мов.</a:t>
                </a:r>
                <a:endParaRPr b="0" i="0" sz="1300" u="none" cap="none" strike="noStrike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59" name="Google Shape;359;p37"/>
            <p:cNvGrpSpPr/>
            <p:nvPr/>
          </p:nvGrpSpPr>
          <p:grpSpPr>
            <a:xfrm>
              <a:off x="3333750" y="1333500"/>
              <a:ext cx="2476500" cy="1428900"/>
              <a:chOff x="3333750" y="1333500"/>
              <a:chExt cx="2476500" cy="1428900"/>
            </a:xfrm>
          </p:grpSpPr>
          <p:sp>
            <p:nvSpPr>
              <p:cNvPr id="360" name="Google Shape;360;p37"/>
              <p:cNvSpPr/>
              <p:nvPr/>
            </p:nvSpPr>
            <p:spPr>
              <a:xfrm>
                <a:off x="3333750" y="1333500"/>
                <a:ext cx="2476500" cy="1428900"/>
              </a:xfrm>
              <a:prstGeom prst="roundRect">
                <a:avLst>
                  <a:gd fmla="val 8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37"/>
              <p:cNvSpPr txBox="1"/>
              <p:nvPr/>
            </p:nvSpPr>
            <p:spPr>
              <a:xfrm>
                <a:off x="3429000" y="1428750"/>
                <a:ext cx="2286000" cy="123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b="1" i="0" lang="uk" sz="1300" u="none" cap="none" strike="noStrike">
                    <a:solidFill>
                      <a:srgbClr val="1A9988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Архітектура та БД</a:t>
                </a:r>
                <a:endParaRPr b="1" i="0" sz="1300" u="none" cap="none" strike="noStrike">
                  <a:solidFill>
                    <a:srgbClr val="1A9988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b="0" i="0" lang="uk" sz="1300" u="none" cap="none" strike="noStrike">
                    <a:solidFill>
                      <a:srgbClr val="475569"/>
                    </a:solidFill>
                    <a:latin typeface="Lato"/>
                    <a:ea typeface="Lato"/>
                    <a:cs typeface="Lato"/>
                    <a:sym typeface="Lato"/>
                  </a:rPr>
                  <a:t>Розроблено клієнт-серверну архітектуру й структуру бази даних. Проведено аналіз галузі.</a:t>
                </a:r>
                <a:endParaRPr b="0" i="0" sz="1300" u="none" cap="none" strike="noStrike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62" name="Google Shape;362;p37"/>
            <p:cNvGrpSpPr/>
            <p:nvPr/>
          </p:nvGrpSpPr>
          <p:grpSpPr>
            <a:xfrm>
              <a:off x="5943600" y="1333500"/>
              <a:ext cx="2476500" cy="1428900"/>
              <a:chOff x="5943600" y="1333500"/>
              <a:chExt cx="2476500" cy="1428900"/>
            </a:xfrm>
          </p:grpSpPr>
          <p:sp>
            <p:nvSpPr>
              <p:cNvPr id="363" name="Google Shape;363;p37"/>
              <p:cNvSpPr/>
              <p:nvPr/>
            </p:nvSpPr>
            <p:spPr>
              <a:xfrm>
                <a:off x="5943600" y="1333500"/>
                <a:ext cx="2476500" cy="1428900"/>
              </a:xfrm>
              <a:prstGeom prst="roundRect">
                <a:avLst>
                  <a:gd fmla="val 8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37"/>
              <p:cNvSpPr txBox="1"/>
              <p:nvPr/>
            </p:nvSpPr>
            <p:spPr>
              <a:xfrm>
                <a:off x="6038850" y="1428750"/>
                <a:ext cx="2286000" cy="123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b="1" i="0" lang="uk" sz="1300" u="none" cap="none" strike="noStrike">
                    <a:solidFill>
                      <a:srgbClr val="1A9988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Функціональність</a:t>
                </a:r>
                <a:endParaRPr b="1" i="0" sz="1300" u="none" cap="none" strike="noStrike">
                  <a:solidFill>
                    <a:srgbClr val="1A9988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b="0" i="0" lang="uk" sz="1300" u="none" cap="none" strike="noStrike">
                    <a:solidFill>
                      <a:srgbClr val="475569"/>
                    </a:solidFill>
                    <a:latin typeface="Lato"/>
                    <a:ea typeface="Lato"/>
                    <a:cs typeface="Lato"/>
                    <a:sym typeface="Lato"/>
                  </a:rPr>
                  <a:t>Реалізовано курси, уроки, вправи, прогрес, гейміфікацію та рейтинг користувачів.</a:t>
                </a:r>
                <a:endParaRPr b="0" i="0" sz="1300" u="none" cap="none" strike="noStrike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65" name="Google Shape;365;p37"/>
            <p:cNvGrpSpPr/>
            <p:nvPr/>
          </p:nvGrpSpPr>
          <p:grpSpPr>
            <a:xfrm>
              <a:off x="723900" y="2895600"/>
              <a:ext cx="2476500" cy="1428900"/>
              <a:chOff x="723900" y="2895600"/>
              <a:chExt cx="2476500" cy="1428900"/>
            </a:xfrm>
          </p:grpSpPr>
          <p:sp>
            <p:nvSpPr>
              <p:cNvPr id="366" name="Google Shape;366;p37"/>
              <p:cNvSpPr/>
              <p:nvPr/>
            </p:nvSpPr>
            <p:spPr>
              <a:xfrm>
                <a:off x="723900" y="2895600"/>
                <a:ext cx="2476500" cy="1428900"/>
              </a:xfrm>
              <a:prstGeom prst="roundRect">
                <a:avLst>
                  <a:gd fmla="val 8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37"/>
              <p:cNvSpPr txBox="1"/>
              <p:nvPr/>
            </p:nvSpPr>
            <p:spPr>
              <a:xfrm>
                <a:off x="819150" y="2990850"/>
                <a:ext cx="2286000" cy="123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b="1" i="0" lang="uk" sz="1300" u="none" cap="none" strike="noStrike">
                    <a:solidFill>
                      <a:srgbClr val="EB5600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Комунікація</a:t>
                </a:r>
                <a:endParaRPr b="1" i="0" sz="1300" u="none" cap="none" strike="noStrike">
                  <a:solidFill>
                    <a:srgbClr val="EB5600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b="0" i="0" lang="uk" sz="1300" u="none" cap="none" strike="noStrike">
                    <a:solidFill>
                      <a:srgbClr val="475569"/>
                    </a:solidFill>
                    <a:latin typeface="Lato"/>
                    <a:ea typeface="Lato"/>
                    <a:cs typeface="Lato"/>
                    <a:sym typeface="Lato"/>
                  </a:rPr>
                  <a:t>Додано чат, приватність, ролі доступу й модерацію повідомлень.</a:t>
                </a:r>
                <a:endParaRPr b="0" i="0" sz="1300" u="none" cap="none" strike="noStrike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68" name="Google Shape;368;p37"/>
            <p:cNvGrpSpPr/>
            <p:nvPr/>
          </p:nvGrpSpPr>
          <p:grpSpPr>
            <a:xfrm>
              <a:off x="3333750" y="2895600"/>
              <a:ext cx="2476500" cy="1428900"/>
              <a:chOff x="3333750" y="2895600"/>
              <a:chExt cx="2476500" cy="1428900"/>
            </a:xfrm>
          </p:grpSpPr>
          <p:sp>
            <p:nvSpPr>
              <p:cNvPr id="369" name="Google Shape;369;p37"/>
              <p:cNvSpPr/>
              <p:nvPr/>
            </p:nvSpPr>
            <p:spPr>
              <a:xfrm>
                <a:off x="3333750" y="2895600"/>
                <a:ext cx="2476500" cy="1428900"/>
              </a:xfrm>
              <a:prstGeom prst="roundRect">
                <a:avLst>
                  <a:gd fmla="val 8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37"/>
              <p:cNvSpPr txBox="1"/>
              <p:nvPr/>
            </p:nvSpPr>
            <p:spPr>
              <a:xfrm>
                <a:off x="3429000" y="2990850"/>
                <a:ext cx="2286000" cy="123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b="1" i="0" lang="uk" sz="1300" u="none" cap="none" strike="noStrike">
                    <a:solidFill>
                      <a:srgbClr val="EB5600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UI/UX та Адаптив</a:t>
                </a:r>
                <a:endParaRPr b="1" i="0" sz="1300" u="none" cap="none" strike="noStrike">
                  <a:solidFill>
                    <a:srgbClr val="EB5600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b="0" i="0" lang="uk" sz="1300" u="none" cap="none" strike="noStrike">
                    <a:solidFill>
                      <a:srgbClr val="475569"/>
                    </a:solidFill>
                    <a:latin typeface="Lato"/>
                    <a:ea typeface="Lato"/>
                    <a:cs typeface="Lato"/>
                    <a:sym typeface="Lato"/>
                  </a:rPr>
                  <a:t>Забезпечено локалізацію, темізацію та адаптивний інтерфейс для різних пристроїв.</a:t>
                </a:r>
                <a:endParaRPr b="0" i="0" sz="1300" u="none" cap="none" strike="noStrike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71" name="Google Shape;371;p37"/>
            <p:cNvGrpSpPr/>
            <p:nvPr/>
          </p:nvGrpSpPr>
          <p:grpSpPr>
            <a:xfrm>
              <a:off x="5943600" y="2895600"/>
              <a:ext cx="2476500" cy="1428900"/>
              <a:chOff x="5943600" y="2895600"/>
              <a:chExt cx="2476500" cy="1428900"/>
            </a:xfrm>
          </p:grpSpPr>
          <p:sp>
            <p:nvSpPr>
              <p:cNvPr id="372" name="Google Shape;372;p37"/>
              <p:cNvSpPr/>
              <p:nvPr/>
            </p:nvSpPr>
            <p:spPr>
              <a:xfrm>
                <a:off x="5943600" y="2895600"/>
                <a:ext cx="2476500" cy="1428900"/>
              </a:xfrm>
              <a:prstGeom prst="roundRect">
                <a:avLst>
                  <a:gd fmla="val 8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37"/>
              <p:cNvSpPr txBox="1"/>
              <p:nvPr/>
            </p:nvSpPr>
            <p:spPr>
              <a:xfrm>
                <a:off x="6038850" y="2990850"/>
                <a:ext cx="2286000" cy="123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b="1" i="0" lang="uk" sz="1300" u="none" cap="none" strike="noStrike">
                    <a:solidFill>
                      <a:srgbClr val="EB5600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Верифікація</a:t>
                </a:r>
                <a:endParaRPr b="1" i="0" sz="1300" u="none" cap="none" strike="noStrike">
                  <a:solidFill>
                    <a:srgbClr val="EB5600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b="0" i="0" lang="uk" sz="1300" u="none" cap="none" strike="noStrike">
                    <a:solidFill>
                      <a:srgbClr val="475569"/>
                    </a:solidFill>
                    <a:latin typeface="Lato"/>
                    <a:ea typeface="Lato"/>
                    <a:cs typeface="Lato"/>
                    <a:sym typeface="Lato"/>
                  </a:rPr>
                  <a:t>Перевірено основні користувацькі й адміністративні сценарії використання.</a:t>
                </a:r>
                <a:endParaRPr b="0" i="0" sz="1300" u="none" cap="none" strike="noStrike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374" name="Google Shape;374;p3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8"/>
          <p:cNvSpPr txBox="1"/>
          <p:nvPr>
            <p:ph type="title"/>
          </p:nvPr>
        </p:nvSpPr>
        <p:spPr>
          <a:xfrm>
            <a:off x="727800" y="23041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k" sz="4240"/>
              <a:t>Дякую за увагу!</a:t>
            </a:r>
            <a:endParaRPr sz="4240"/>
          </a:p>
        </p:txBody>
      </p:sp>
      <p:sp>
        <p:nvSpPr>
          <p:cNvPr id="380" name="Google Shape;380;p3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